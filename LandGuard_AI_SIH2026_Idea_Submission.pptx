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1F3106-C115-41FE-993F-E3006C9A36ED}" v="140" dt="2026-09-06T14:37:16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21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ID – SIH26017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Title- Predictive Analytics System for Early Detection of Land Acquisition Delays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Name– Null Pointers</a:t>
            </a:r>
            <a:endParaRPr lang="en-IN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Times New Roman"/>
              <a:ea typeface="+mn-ea"/>
              <a:cs typeface="Times New Roman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/>
                <a:ea typeface="ＭＳ Ｐゴシック" pitchFamily="1" charset="-128"/>
                <a:cs typeface="Times New Roman"/>
              </a:rPr>
            </a:br>
            <a:r>
              <a:rPr lang="en-US" sz="1800" b="1" err="1">
                <a:latin typeface="Times New Roman"/>
                <a:ea typeface="ＭＳ Ｐゴシック"/>
                <a:cs typeface="Times New Roman"/>
              </a:rPr>
              <a:t>LandGuard</a:t>
            </a:r>
            <a:r>
              <a:rPr lang="en-US" sz="1800" b="1">
                <a:latin typeface="Times New Roman"/>
                <a:ea typeface="ＭＳ Ｐゴシック"/>
                <a:cs typeface="Times New Roman"/>
              </a:rPr>
              <a:t> AI – Predictive Land Acquisition Delay Intelligence System</a:t>
            </a:r>
            <a:endParaRPr lang="en-US" sz="1800">
              <a:latin typeface="Times New Roman"/>
              <a:ea typeface="ＭＳ Ｐゴシック"/>
              <a:cs typeface="Times New Roman"/>
            </a:endParaRPr>
          </a:p>
          <a:p>
            <a:endParaRPr lang="en-US" sz="3600" b="1">
              <a:latin typeface="Times New Roman"/>
              <a:cs typeface="Times New Roman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843279" y="1567081"/>
            <a:ext cx="10505439" cy="449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PROPOSED SOLUTION</a:t>
            </a:r>
            <a:endParaRPr lang="en-US" sz="1600">
              <a:latin typeface="Times New Roman"/>
              <a:ea typeface="ＭＳ Ｐゴシック"/>
              <a:cs typeface="Times New Roman"/>
            </a:endParaRP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Land acquisition delays arise from pending approvals, legal disputes, delayed compensation, incomplete documentation, ownership conflicts, rehabilitation issues, and inter-departmental bottlenecks.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LandGuard AI is an AI-powered predictive decision-support platform that identifies projects at risk of delay before delays significantly affect infrastructure implementation.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Analyzes project type, land area, affected families, compensation status, approval timelines, legal disputes, possession status, rehabilitation progress, stakeholder responsiveness, notifications, and historical performance.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For every project, generates:</a:t>
            </a:r>
            <a:r>
              <a:rPr lang="en-US" sz="1400" b="1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US" sz="1400">
                <a:latin typeface="Times New Roman"/>
                <a:ea typeface="ＭＳ Ｐゴシック"/>
                <a:cs typeface="Times New Roman"/>
              </a:rPr>
              <a:t>delay probability, risk score, risk category, predicted delay indicator, key contributing factors, and recommended corrective actions.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HOW IT ADDRESSES THE PROBLEM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Shifts monitoring from reactive reporting to proactive intervention, identifying high-risk projects before delays become critical.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Explains the major drivers behind predicted risk and prioritizes projects/interventions for administrators.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Provides district-wise and state-wise visibility through analytics and GIS.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INNOVATION AND UNIQUENESS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Predictive (not purely reactive) monitoring, with project-wise and stage-wise risk assessment.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Explainable AI showing why a project is at risk, with a risk-to-action recommendation engine.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GIS-based visualization of high-risk projects, automated risk-based alerts, and continuous model improvement as new project outcomes become available.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Times New Roman"/>
                <a:cs typeface="Times New Roman"/>
              </a:rPr>
              <a:pPr/>
              <a:t>2</a:t>
            </a:fld>
            <a:endParaRPr lang="en-US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Times New Roman"/>
                <a:cs typeface="Times New Roman"/>
              </a:rPr>
              <a:t>Null Pointers</a:t>
            </a:r>
            <a:endParaRPr lang="en-IN">
              <a:latin typeface="Times New Roman"/>
              <a:cs typeface="Times New Roman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Times New Roman"/>
              <a:ea typeface="+mn-ea"/>
              <a:cs typeface="Times New Roman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48133"/>
            <a:ext cx="10970260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TECHNOLOGIES TO BE USED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b="1">
                <a:latin typeface="Times New Roman"/>
                <a:ea typeface="ＭＳ Ｐゴシック"/>
                <a:cs typeface="Times New Roman"/>
              </a:rPr>
              <a:t>Frontend: </a:t>
            </a:r>
            <a:r>
              <a:rPr lang="en-US" sz="1400">
                <a:latin typeface="Times New Roman"/>
                <a:ea typeface="ＭＳ Ｐゴシック"/>
                <a:cs typeface="Times New Roman"/>
              </a:rPr>
              <a:t>React / HTML / CSS / JavaScript      </a:t>
            </a:r>
            <a:r>
              <a:rPr lang="en-US" sz="1400" b="1">
                <a:latin typeface="Times New Roman"/>
                <a:ea typeface="ＭＳ Ｐゴシック"/>
                <a:cs typeface="Times New Roman"/>
              </a:rPr>
              <a:t>Backend: </a:t>
            </a:r>
            <a:r>
              <a:rPr lang="en-US" sz="1400">
                <a:latin typeface="Times New Roman"/>
                <a:ea typeface="ＭＳ Ｐゴシック"/>
                <a:cs typeface="Times New Roman"/>
              </a:rPr>
              <a:t>Python (FastAPI or Flask)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b="1">
                <a:latin typeface="Times New Roman"/>
                <a:ea typeface="ＭＳ Ｐゴシック"/>
                <a:cs typeface="Times New Roman"/>
              </a:rPr>
              <a:t>Database: </a:t>
            </a:r>
            <a:r>
              <a:rPr lang="en-US" sz="1400">
                <a:latin typeface="Times New Roman"/>
                <a:ea typeface="ＭＳ Ｐゴシック"/>
                <a:cs typeface="Times New Roman"/>
              </a:rPr>
              <a:t>PostgreSQL with PostGIS      </a:t>
            </a:r>
            <a:r>
              <a:rPr lang="en-US" sz="1400" b="1">
                <a:latin typeface="Times New Roman"/>
                <a:ea typeface="ＭＳ Ｐゴシック"/>
                <a:cs typeface="Times New Roman"/>
              </a:rPr>
              <a:t>Machine Learning: </a:t>
            </a:r>
            <a:r>
              <a:rPr lang="en-US" sz="1400">
                <a:latin typeface="Times New Roman"/>
                <a:ea typeface="ＭＳ Ｐゴシック"/>
                <a:cs typeface="Times New Roman"/>
              </a:rPr>
              <a:t>Scikit-learn, XGBoost or equivalent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b="1">
                <a:latin typeface="Times New Roman"/>
                <a:ea typeface="ＭＳ Ｐゴシック"/>
                <a:cs typeface="Times New Roman"/>
              </a:rPr>
              <a:t>Explainable AI: </a:t>
            </a:r>
            <a:r>
              <a:rPr lang="en-US" sz="1400">
                <a:latin typeface="Times New Roman"/>
                <a:ea typeface="ＭＳ Ｐゴシック"/>
                <a:cs typeface="Times New Roman"/>
              </a:rPr>
              <a:t>SHAP / Feature Importance      </a:t>
            </a:r>
            <a:r>
              <a:rPr lang="en-US" sz="1400" b="1">
                <a:latin typeface="Times New Roman"/>
                <a:ea typeface="ＭＳ Ｐゴシック"/>
                <a:cs typeface="Times New Roman"/>
              </a:rPr>
              <a:t>GIS: </a:t>
            </a:r>
            <a:r>
              <a:rPr lang="en-US" sz="1400">
                <a:latin typeface="Times New Roman"/>
                <a:ea typeface="ＭＳ Ｐゴシック"/>
                <a:cs typeface="Times New Roman"/>
              </a:rPr>
              <a:t>Leaflet / OpenLayers / GeoServer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b="1">
                <a:latin typeface="Times New Roman"/>
                <a:ea typeface="ＭＳ Ｐゴシック"/>
                <a:cs typeface="Times New Roman"/>
              </a:rPr>
              <a:t>Visualization: </a:t>
            </a:r>
            <a:r>
              <a:rPr lang="en-US" sz="1400">
                <a:latin typeface="Times New Roman"/>
                <a:ea typeface="ＭＳ Ｐゴシック"/>
                <a:cs typeface="Times New Roman"/>
              </a:rPr>
              <a:t>Plotly / Grafana / Apache Superset      </a:t>
            </a:r>
            <a:r>
              <a:rPr lang="en-US" sz="1400" b="1">
                <a:latin typeface="Times New Roman"/>
                <a:ea typeface="ＭＳ Ｐゴシック"/>
                <a:cs typeface="Times New Roman"/>
              </a:rPr>
              <a:t>APIs: </a:t>
            </a:r>
            <a:r>
              <a:rPr lang="en-US" sz="1400">
                <a:latin typeface="Times New Roman"/>
                <a:ea typeface="ＭＳ Ｐゴシック"/>
                <a:cs typeface="Times New Roman"/>
              </a:rPr>
              <a:t>REST APIs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b="1">
                <a:latin typeface="Times New Roman"/>
                <a:ea typeface="ＭＳ Ｐゴシック"/>
                <a:cs typeface="Times New Roman"/>
              </a:rPr>
              <a:t>Notifications: </a:t>
            </a:r>
            <a:r>
              <a:rPr lang="en-US" sz="1400">
                <a:latin typeface="Times New Roman"/>
                <a:ea typeface="ＭＳ Ｐゴシック"/>
                <a:cs typeface="Times New Roman"/>
              </a:rPr>
              <a:t>Email / Push / SMS (where permitted)      </a:t>
            </a:r>
            <a:r>
              <a:rPr lang="en-US" sz="1400" b="1">
                <a:latin typeface="Times New Roman"/>
                <a:ea typeface="ＭＳ Ｐゴシック"/>
                <a:cs typeface="Times New Roman"/>
              </a:rPr>
              <a:t>Authentication: </a:t>
            </a:r>
            <a:r>
              <a:rPr lang="en-US" sz="1400">
                <a:latin typeface="Times New Roman"/>
                <a:ea typeface="ＭＳ Ｐゴシック"/>
                <a:cs typeface="Times New Roman"/>
              </a:rPr>
              <a:t>Role-Based Access Control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METHODOLOGY / PROCESS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Historical + New Project Data → Data Validation &amp; Cleaning → Feature Engineering → ML Model → Delay Probability → Risk Score &amp; Risk Category → Explainable AI → Delay Driver Identification → Recommendation Engine → Dashboard + GIS → Alerts &amp; Administrative Intervention → New Project Outcomes → Model Improvement.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CORE ML OUTPUT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Delay probability, project risk score (Low / Medium / High), estimated delay indicator, key delay drivers, and recommended interventions.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POSSIBLE PREDICTIVE MODELS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Logistic Regression, Random Forest, Gradient Boosting / XGBoost, and regression models for estimated delay duration.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EXPLAINABILITY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Feature importance and SHAP / local explanations providing human-readable reasons for project risk.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  <a:latin typeface="Times New Roman"/>
                <a:cs typeface="Times New Roman"/>
              </a:rPr>
              <a:pPr/>
              <a:t>3</a:t>
            </a:fld>
            <a:endParaRPr lang="en-US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Times New Roman"/>
                <a:cs typeface="Times New Roman"/>
              </a:rPr>
              <a:t>Null Pointers</a:t>
            </a:r>
            <a:endParaRPr lang="en-IN">
              <a:latin typeface="Times New Roman"/>
              <a:cs typeface="Times New Roman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/>
                <a:ea typeface="ＭＳ Ｐゴシック" pitchFamily="1" charset="-128"/>
                <a:cs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66853"/>
            <a:ext cx="1017778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TECHNICAL FEASIBILITY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Built on established web, database, GIS, and machine-learning technologies; tabular project data is well suited to supervised ML and predictive analytics; explainable AI provides transparent risk factors; API-based architecture allows integration with future government systems; GIS technologies visualize project risk geographically.</a:t>
            </a:r>
          </a:p>
          <a:p>
            <a:pPr algn="just"/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OPERATIONAL FEASIBILITY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Supports administrators, district officers, state officers, and implementing agencies with project-level drill-down, risk prioritization, automated alerts, and role-based access for relevant stakeholders.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SCALABILITY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Modular, API-based architecture that can expand from pilot projects to multiple districts and states; PostgreSQL/PostGIS supports structured and spatial project information; prediction services can be separated from dashboard and database layers; new historical outcomes can be incorporated for model retraining.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POTENTIAL CHALLENGES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Inconsistent or incomplete historical records; different data formats across departments; limited availability of labelled delay outcomes; data quality and missing values; integration with existing government systems; model drift as project patterns change.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MITIGATION STRATEGIES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Data validation and quality checks; standardized data schema; feature engineering and missing-value handling; human review of high-risk predictions; explainable AI for transparent decisions; modular API-based integration; periodic model evaluation and retraining.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Times New Roman"/>
                <a:cs typeface="Times New Roman"/>
              </a:rPr>
              <a:t>Null Pointers</a:t>
            </a:r>
            <a:endParaRPr lang="en-IN">
              <a:latin typeface="Times New Roman"/>
              <a:cs typeface="Times New Roman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73813"/>
            <a:ext cx="10279380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TARGET USERS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Land Requiring Bodies, Land Acquiring Authorities, District Administration, State Governments, Central Ministries, Project Implementing Agencies, and Policy Makers.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ADMINISTRATIVE IMPACT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Earlier identification of projects likely to face delays, better prioritization of administrative interventions, and faster identification of bottlenecks.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ECONOMIC IMPACT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Better resource allocation, reduced risk of prolonged project delays, and potential reduction in avoidable public expenditure caused by delayed implementation.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INFRASTRUCTURE IMPACT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Improved visibility of acquisition progress, better coordination across project stakeholders, and support for timely infrastructure execution.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GOVERNANCE IMPACT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ＭＳ Ｐゴシック"/>
                <a:cs typeface="Times New Roman"/>
              </a:rPr>
              <a:t>Shift from reactive monitoring to predictive decision-making, data-driven project prioritization, transparent and explainable risk assessment, and district-wise / state-wise comparative monitoring.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400">
              <a:latin typeface="Times New Roman"/>
              <a:ea typeface="ＭＳ Ｐゴシック"/>
              <a:cs typeface="Times New Roman"/>
            </a:endParaRPr>
          </a:p>
          <a:p>
            <a:pPr marL="0" indent="0">
              <a:buNone/>
            </a:pPr>
            <a:r>
              <a:rPr lang="en-US" sz="1600" b="1" u="sng">
                <a:latin typeface="Times New Roman"/>
                <a:ea typeface="ＭＳ Ｐゴシック"/>
                <a:cs typeface="Times New Roman"/>
              </a:rPr>
              <a:t>KEY BENEFIT</a:t>
            </a:r>
          </a:p>
          <a:p>
            <a:pPr algn="l">
              <a:buNone/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PREDICT → EXPLAIN → RECOMMEND → ALERT → INTERVENE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latin typeface="Times New Roman"/>
                <a:cs typeface="Times New Roman"/>
              </a:rPr>
              <a:t>Null Pointers</a:t>
            </a:r>
            <a:endParaRPr lang="en-IN">
              <a:latin typeface="Times New Roman"/>
              <a:cs typeface="Times New Roman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809743"/>
            <a:ext cx="9385300" cy="4016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00" b="1">
                <a:latin typeface="Times New Roman"/>
                <a:cs typeface="Times New Roman"/>
              </a:rPr>
              <a:t>SIH 2026 – Problem Statement SIH26017: </a:t>
            </a:r>
            <a:r>
              <a:rPr lang="en-US" sz="1700">
                <a:latin typeface="Times New Roman"/>
                <a:cs typeface="Times New Roman"/>
              </a:rPr>
              <a:t>“Predictive Analytics System for Early Detection of Land Acquisition Delays.”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700">
              <a:latin typeface="Times New Roman"/>
              <a:ea typeface="ＭＳ Ｐゴシック"/>
              <a:cs typeface="Times New Roman"/>
            </a:endParaRP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00" b="1">
                <a:latin typeface="Times New Roman"/>
                <a:cs typeface="Times New Roman"/>
              </a:rPr>
              <a:t>DoLR, Ministry of Rural Development: </a:t>
            </a:r>
            <a:r>
              <a:rPr lang="en-US" sz="1700">
                <a:latin typeface="Times New Roman"/>
                <a:cs typeface="Times New Roman"/>
              </a:rPr>
              <a:t>Land Acquisition Compensation, Rehabilitation and Resettlement Information System (LACRRIS).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700">
              <a:latin typeface="Times New Roman"/>
              <a:ea typeface="ＭＳ Ｐゴシック"/>
              <a:cs typeface="Times New Roman"/>
            </a:endParaRP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00" b="1">
                <a:latin typeface="Times New Roman"/>
                <a:cs typeface="Times New Roman"/>
              </a:rPr>
              <a:t>Ministry of Statistics &amp; Programme Implementation: </a:t>
            </a:r>
            <a:r>
              <a:rPr lang="en-US" sz="1700">
                <a:latin typeface="Times New Roman"/>
                <a:cs typeface="Times New Roman"/>
              </a:rPr>
              <a:t>project monitoring / infrastructure project information through PAIMANA where applicable.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700">
              <a:latin typeface="Times New Roman"/>
              <a:ea typeface="ＭＳ Ｐゴシック"/>
              <a:cs typeface="Times New Roman"/>
            </a:endParaRP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00" b="1">
                <a:latin typeface="Times New Roman"/>
                <a:cs typeface="Times New Roman"/>
              </a:rPr>
              <a:t>Official government land-acquisition and infrastructure project records: </a:t>
            </a:r>
            <a:r>
              <a:rPr lang="en-US" sz="1700">
                <a:latin typeface="Times New Roman"/>
                <a:cs typeface="Times New Roman"/>
              </a:rPr>
              <a:t>project timelines, acquisition stages, compensation status, approval information, possession status, rehabilitation information, and geographic information.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700">
              <a:latin typeface="Times New Roman"/>
              <a:ea typeface="ＭＳ Ｐゴシック"/>
              <a:cs typeface="Times New Roman"/>
            </a:endParaRP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700" b="1">
                <a:latin typeface="Times New Roman"/>
                <a:cs typeface="Times New Roman"/>
              </a:rPr>
              <a:t>Research areas reviewed: </a:t>
            </a:r>
            <a:r>
              <a:rPr lang="en-US" sz="1700">
                <a:latin typeface="Times New Roman"/>
                <a:cs typeface="Times New Roman"/>
              </a:rPr>
              <a:t>predictive analytics for project delay, explainable machine learning, risk scoring, GIS-based infrastructure monitoring, and decision-support systems.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Times New Roman"/>
                <a:cs typeface="Times New Roman"/>
              </a:rPr>
              <a:t>Null Pointers</a:t>
            </a:r>
            <a:endParaRPr lang="en-IN">
              <a:latin typeface="Times New Roman"/>
              <a:cs typeface="Times New Roman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LandGuard AI – Predictive Land Acquisition Delay Intelligence System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revision>3</cp:revision>
  <dcterms:created xsi:type="dcterms:W3CDTF">2013-12-12T18:46:50Z</dcterms:created>
  <dcterms:modified xsi:type="dcterms:W3CDTF">2026-09-06T17:31:19Z</dcterms:modified>
  <cp:category/>
</cp:coreProperties>
</file>