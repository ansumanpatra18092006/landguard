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8"/>
  </p:notesMasterIdLst>
  <p:sldIdLst>
    <p:sldId id="297"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1"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1" charset="-128"/>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1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napToGrid="0" snapToObjects="1" showGuides="1">
      <p:cViewPr varScale="1">
        <p:scale>
          <a:sx n="57" d="100"/>
          <a:sy n="57" d="100"/>
        </p:scale>
        <p:origin x="-101" y="-110"/>
      </p:cViewPr>
      <p:guideLst>
        <p:guide orient="horz" pos="2160"/>
        <p:guide pos="3810"/>
      </p:guideLst>
    </p:cSldViewPr>
  </p:slideViewPr>
  <p:notesTextViewPr>
    <p:cViewPr>
      <p:scale>
        <a:sx n="100" d="100"/>
        <a:sy n="100" d="100"/>
      </p:scale>
      <p:origin x="0" y="0"/>
    </p:cViewPr>
  </p:notesTextViewPr>
  <p:sorterViewPr>
    <p:cViewPr>
      <p:scale>
        <a:sx n="125" d="100"/>
        <a:sy n="125"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vl1pPr>
          </a:lstStyle>
          <a:p>
            <a:fld id="{C4D5ADD5-2BBC-4A94-8F86-D9013941F742}" type="datetimeFigureOut">
              <a:rPr lang="en-US"/>
              <a:pPr/>
              <a:t>9/21/2026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EC790738-CFC9-4A5E-8424-6B42AA5706F7}" type="slidenum">
              <a:rPr lang="en-US"/>
              <a:pPr/>
              <a:t>‹#›</a:t>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1" charset="-128"/>
        <a:cs typeface="MS PGothic" panose="020B0600070205080204"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ln>
        </p:spPr>
      </p:sp>
      <p:sp>
        <p:nvSpPr>
          <p:cNvPr id="16386" name="Notes Placeholder 2"/>
          <p:cNvSpPr>
            <a:spLocks noGrp="1"/>
          </p:cNvSpPr>
          <p:nvPr>
            <p:ph type="body" idx="1"/>
          </p:nvPr>
        </p:nvSpPr>
        <p:spPr bwMode="auto">
          <a:noFill/>
        </p:spPr>
        <p:txBody>
          <a:bodyPr wrap="square" numCol="1" anchor="t" anchorCtr="0" compatLnSpc="1"/>
          <a:lstStyle/>
          <a:p>
            <a:r>
              <a:t>Top left: the six pain points officers already know. Below, compare the two flows. Traditional: an issue is recorded, the delay becomes visible, then it is escalated — reactive. LandGuard: risk is detected, the bottleneck is identified, priority is assigned and the intervention is tracked. Read the navy banner: existing systems record and monitor progress well; LandGuard adds an acquisition-aware prioritisation and intervention layer. We are not saying current systems lack analytics. On the right, point to the system boundary: four roles — System Admin, State Officer, District Officer and Implementing Agency — each with scoped use cases. The District Officer is the main user: War Room, intelligence, scenarios, interventions and the Officer Brief. Main message: from reactive monitoring to early intervention.</a:t>
            </a:r>
          </a:p>
        </p:txBody>
      </p:sp>
      <p:sp>
        <p:nvSpPr>
          <p:cNvPr id="16387" name="Slide Number Placeholder 3"/>
          <p:cNvSpPr>
            <a:spLocks noGrp="1"/>
          </p:cNvSpPr>
          <p:nvPr>
            <p:ph type="sldNum" sz="quarter" idx="5"/>
          </p:nvPr>
        </p:nvSpPr>
        <p:spPr bwMode="auto">
          <a:noFill/>
          <a:ln>
            <a:miter lim="800000"/>
          </a:ln>
        </p:spPr>
        <p:txBody>
          <a:bodyPr/>
          <a:lstStyle/>
          <a:p>
            <a:fld id="{65F62A7E-A2F8-438F-9CF8-47DE63F471B4}"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ln>
        </p:spPr>
      </p:sp>
      <p:sp>
        <p:nvSpPr>
          <p:cNvPr id="18434" name="Notes Placeholder 2"/>
          <p:cNvSpPr>
            <a:spLocks noGrp="1"/>
          </p:cNvSpPr>
          <p:nvPr>
            <p:ph type="body" idx="1"/>
          </p:nvPr>
        </p:nvSpPr>
        <p:spPr bwMode="auto">
          <a:noFill/>
        </p:spPr>
        <p:txBody>
          <a:bodyPr wrap="square" numCol="1" anchor="t" anchorCtr="0" compatLnSpc="1"/>
          <a:lstStyle/>
          <a:p>
            <a:r>
              <a:t>This is the core slide: two separate lanes, deliberately not merged. Left lane, blue: recorded land-acquisition indicators — disputes, approvals, compensation, possession, R&amp;R, response delay, elapsed time and case scale — feed three transparent rule-based indices: Friction, Readiness and Acquisition Delay Risk. These are decision-support indices, not ML probabilities. Right lane, teal: real MoSPI PAIMANA monthly history goes through a feature pipeline into a Random Forest that produces a three-month schedule signal, explained by SHAP and historical analogues. Trace the merge line: acquisition risk sets the base priority, and the PAIMANA signal can escalate it, never suppress it. That gives Intervention Priority, which flows through the War Room and GIS, Process Twin and Delay Cascade, recommended review, the Intervention Ledger with owner and due date, and finally the Officer Brief. Bottom strips: technology stack, and the District Officer's path through the product. Main message: two independent evidence lanes, one accountable workflow.</a:t>
            </a:r>
          </a:p>
        </p:txBody>
      </p:sp>
      <p:sp>
        <p:nvSpPr>
          <p:cNvPr id="18435" name="Slide Number Placeholder 3"/>
          <p:cNvSpPr>
            <a:spLocks noGrp="1"/>
          </p:cNvSpPr>
          <p:nvPr>
            <p:ph type="sldNum" sz="quarter" idx="5"/>
          </p:nvPr>
        </p:nvSpPr>
        <p:spPr bwMode="auto">
          <a:noFill/>
          <a:ln>
            <a:miter lim="800000"/>
          </a:ln>
        </p:spPr>
        <p:txBody>
          <a:bodyPr/>
          <a:lstStyle/>
          <a:p>
            <a:fld id="{0CA7B74D-3791-4AC6-8451-F10DBCCCDD9A}" type="slidenum">
              <a:rPr lang="en-US"/>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ln>
        </p:spPr>
      </p:sp>
      <p:sp>
        <p:nvSpPr>
          <p:cNvPr id="18434" name="Notes Placeholder 2"/>
          <p:cNvSpPr>
            <a:spLocks noGrp="1"/>
          </p:cNvSpPr>
          <p:nvPr>
            <p:ph type="body" idx="1"/>
          </p:nvPr>
        </p:nvSpPr>
        <p:spPr bwMode="auto">
          <a:noFill/>
        </p:spPr>
        <p:txBody>
          <a:bodyPr wrap="square" numCol="1" anchor="t" anchorCtr="0" compatLnSpc="1"/>
          <a:lstStyle/>
          <a:p>
            <a:r>
              <a:t>Three columns, one message: nothing here is a black box. Column one is acquisition intelligence — recorded indicators become Friction, Readiness, Acquisition Delay Risk and finally Intervention Priority. It is transparent rule-based decision support; the four chips show what the risk index draws on. Column two is the PAIMANA ML lane — real longitudinal history, temporal features, Random Forest, calibrated probability, a three-month schedule signal and a SHAP explanation. Point to the red box: this model does not use compensation, possession, disputes or R&amp;R, so it is supporting schedule evidence, not a land-acquisition-delay model. Column three is the requirements: what the system does, its quality attributes, and security — RBAC enforced on the backend, scoped by state, district and project, with audit events. The prototype is implemented, which is the feasibility argument. Main message: every number on screen can be explained, and we are explicit about what each part can and cannot claim.</a:t>
            </a:r>
          </a:p>
        </p:txBody>
      </p:sp>
      <p:sp>
        <p:nvSpPr>
          <p:cNvPr id="18435" name="Slide Number Placeholder 3"/>
          <p:cNvSpPr>
            <a:spLocks noGrp="1"/>
          </p:cNvSpPr>
          <p:nvPr>
            <p:ph type="sldNum" sz="quarter" idx="5"/>
          </p:nvPr>
        </p:nvSpPr>
        <p:spPr bwMode="auto">
          <a:noFill/>
          <a:ln>
            <a:miter lim="800000"/>
          </a:ln>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rPr>
              <a:pPr marL="0" marR="0" lvl="0" indent="0" algn="r" defTabSz="457200" rtl="0" eaLnBrk="1" fontAlgn="base" latinLnBrk="0" hangingPunct="1">
                <a:lnSpc>
                  <a:spcPct val="100000"/>
                </a:lnSpc>
                <a:spcBef>
                  <a:spcPct val="0"/>
                </a:spcBef>
                <a:spcAft>
                  <a:spcPct val="0"/>
                </a:spcAft>
                <a:buClrTx/>
                <a:buSzTx/>
                <a:buFontTx/>
                <a:buNone/>
                <a:defRPr/>
              </a:pPr>
              <a:t>4</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ln>
        </p:spPr>
      </p:sp>
      <p:sp>
        <p:nvSpPr>
          <p:cNvPr id="18434" name="Notes Placeholder 2"/>
          <p:cNvSpPr>
            <a:spLocks noGrp="1"/>
          </p:cNvSpPr>
          <p:nvPr>
            <p:ph type="body" idx="1"/>
          </p:nvPr>
        </p:nvSpPr>
        <p:spPr bwMode="auto">
          <a:noFill/>
        </p:spPr>
        <p:txBody>
          <a:bodyPr wrap="square" numCol="1" anchor="t" anchorCtr="0" compatLnSpc="1"/>
          <a:lstStyle/>
          <a:p>
            <a:r>
              <a:t>Read the left column top to bottom — it is the District Officer's decision journey. The War Room answers which project first. The Process Twin shows where it is blocked. Acquisition intelligence says how serious it is. PAIMANA with SHAP adds supporting schedule evidence. The scenario view shows how the operational assessment would look if blockers were cleared — a sensitivity view, not proof of impact. The Intervention Ledger records who acts and by when, and the Officer Brief packages it for the review meeting. Top right is a sample card: risk shown as a category, readiness 54 out of 100, primary bottleneck possession gap, and the PAIMANA signal deliberately kept separate. It uses illustrative demonstration data. The bottom strip lists qualitative impact only; we do not claim savings numbers. Main message: from risk to accountable action.</a:t>
            </a:r>
          </a:p>
        </p:txBody>
      </p:sp>
      <p:sp>
        <p:nvSpPr>
          <p:cNvPr id="18435" name="Slide Number Placeholder 3"/>
          <p:cNvSpPr>
            <a:spLocks noGrp="1"/>
          </p:cNvSpPr>
          <p:nvPr>
            <p:ph type="sldNum" sz="quarter" idx="5"/>
          </p:nvPr>
        </p:nvSpPr>
        <p:spPr bwMode="auto">
          <a:noFill/>
          <a:ln>
            <a:miter lim="800000"/>
          </a:ln>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rPr>
              <a:pPr marL="0" marR="0" lvl="0" indent="0" algn="r" defTabSz="457200" rtl="0" eaLnBrk="1" fontAlgn="base" latinLnBrk="0" hangingPunct="1">
                <a:lnSpc>
                  <a:spcPct val="100000"/>
                </a:lnSpc>
                <a:spcBef>
                  <a:spcPct val="0"/>
                </a:spcBef>
                <a:spcAft>
                  <a:spcPct val="0"/>
                </a:spcAft>
                <a:buClrTx/>
                <a:buSzTx/>
                <a:buFontTx/>
                <a:buNone/>
                <a:defRPr/>
              </a:pPr>
              <a:t>5</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ln>
        </p:spPr>
      </p:sp>
      <p:sp>
        <p:nvSpPr>
          <p:cNvPr id="18434" name="Notes Placeholder 2"/>
          <p:cNvSpPr>
            <a:spLocks noGrp="1"/>
          </p:cNvSpPr>
          <p:nvPr>
            <p:ph type="body" idx="1"/>
          </p:nvPr>
        </p:nvSpPr>
        <p:spPr bwMode="auto">
          <a:noFill/>
        </p:spPr>
        <p:txBody>
          <a:bodyPr wrap="square" numCol="1" anchor="t" anchorCtr="0" compatLnSpc="1"/>
          <a:lstStyle/>
          <a:p>
            <a:r>
              <a:t>This table shows where LandGuard fits — complementing existing systems, not replacing them. LACRRIS and Bhoomi Rashi manage acquisition workflows; PAIMANA and PMG monitor projects; PM GatiShakti plans geospatially. LandGuard adds prioritisation and intervention on top. Read the teal line: our distinctive prototype combination is acquisition-aware prioritisation, independent real-data schedule intelligence, explainability and accountable intervention tracking. Future scope on the right: connectors to LACRRIS and Bhoomi Rashi, acquisition-stage event history, statutory deadline clocks, and validated longitudinal land-acquisition ML. Close on the navy line. References and the data-honesty note are in the footer.</a:t>
            </a:r>
          </a:p>
        </p:txBody>
      </p:sp>
      <p:sp>
        <p:nvSpPr>
          <p:cNvPr id="18435" name="Slide Number Placeholder 3"/>
          <p:cNvSpPr>
            <a:spLocks noGrp="1"/>
          </p:cNvSpPr>
          <p:nvPr>
            <p:ph type="sldNum" sz="quarter" idx="5"/>
          </p:nvPr>
        </p:nvSpPr>
        <p:spPr bwMode="auto">
          <a:noFill/>
          <a:ln>
            <a:miter lim="800000"/>
          </a:ln>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rPr>
              <a:pPr marL="0" marR="0" lvl="0" indent="0" algn="r" defTabSz="457200" rtl="0" eaLnBrk="1" fontAlgn="base" latinLnBrk="0" hangingPunct="1">
                <a:lnSpc>
                  <a:spcPct val="100000"/>
                </a:lnSpc>
                <a:spcBef>
                  <a:spcPct val="0"/>
                </a:spcBef>
                <a:spcAft>
                  <a:spcPct val="0"/>
                </a:spcAft>
                <a:buClrTx/>
                <a:buSzTx/>
                <a:buFontTx/>
                <a:buNone/>
                <a:defRPr/>
              </a:pPr>
              <a:t>6</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1" charset="-128"/>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pPr/>
              <a:t>9/21/2026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pPr/>
              <a:t>9/21/2026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pPr/>
              <a:t>9/21/2026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pPr/>
              <a:t>9/21/2026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pPr/>
              <a:t>9/21/2026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pPr/>
              <a:t>9/21/2026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pPr/>
              <a:t>9/21/2026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pPr/>
              <a:t>9/21/2026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pPr/>
              <a:t>9/21/2026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pPr/>
              <a:t>9/21/2026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pPr/>
              <a:t>9/21/2026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lstStyle>
            <a:lvl1pPr>
              <a:defRPr sz="1200">
                <a:solidFill>
                  <a:srgbClr val="898989"/>
                </a:solidFill>
                <a:latin typeface="TradeGothic" pitchFamily="1" charset="0"/>
              </a:defRPr>
            </a:lvl1pPr>
          </a:lstStyle>
          <a:p>
            <a:fld id="{780A9602-A9A9-453F-AEF1-37B5837E02CD}" type="datetime1">
              <a:rPr lang="en-US" smtClean="0"/>
              <a:pPr/>
              <a:t>9/21/2026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MS PGothic" panose="020B0600070205080204" pitchFamily="1" charset="-128"/>
          <a:cs typeface="MS PGothic" panose="020B0600070205080204" pitchFamily="1" charset="-128"/>
        </a:defRPr>
      </a:lvl1pPr>
      <a:lvl2pPr algn="ctr" defTabSz="457200" rtl="0" eaLnBrk="0" fontAlgn="base" hangingPunct="0">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2pPr>
      <a:lvl3pPr algn="ctr" defTabSz="457200" rtl="0" eaLnBrk="0" fontAlgn="base" hangingPunct="0">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3pPr>
      <a:lvl4pPr algn="ctr" defTabSz="457200" rtl="0" eaLnBrk="0" fontAlgn="base" hangingPunct="0">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4pPr>
      <a:lvl5pPr algn="ctr" defTabSz="457200" rtl="0" eaLnBrk="0" fontAlgn="base" hangingPunct="0">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5pPr>
      <a:lvl6pPr marL="457200" algn="ctr" defTabSz="457200" rtl="0" fontAlgn="base">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6pPr>
      <a:lvl7pPr marL="914400" algn="ctr" defTabSz="457200" rtl="0" fontAlgn="base">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7pPr>
      <a:lvl8pPr marL="1371600" algn="ctr" defTabSz="457200" rtl="0" fontAlgn="base">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8pPr>
      <a:lvl9pPr marL="1828800" algn="ctr" defTabSz="457200" rtl="0" fontAlgn="base">
        <a:spcBef>
          <a:spcPct val="0"/>
        </a:spcBef>
        <a:spcAft>
          <a:spcPct val="0"/>
        </a:spcAft>
        <a:defRPr sz="4400">
          <a:solidFill>
            <a:schemeClr val="tx1"/>
          </a:solidFill>
          <a:latin typeface="TradeGothic" pitchFamily="1" charset="0"/>
          <a:ea typeface="MS PGothic" panose="020B0600070205080204" pitchFamily="1" charset="-128"/>
          <a:cs typeface="MS PGothic" panose="020B0600070205080204" pitchFamily="1"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TradeGothic"/>
          <a:ea typeface="MS PGothic" panose="020B0600070205080204" pitchFamily="1" charset="-128"/>
          <a:cs typeface="MS PGothic" panose="020B0600070205080204" pitchFamily="1"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TradeGothic"/>
          <a:ea typeface="MS PGothic" panose="020B0600070205080204" pitchFamily="1"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TradeGothic"/>
          <a:ea typeface="MS PGothic" panose="020B0600070205080204" pitchFamily="1"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TradeGothic"/>
          <a:ea typeface="MS PGothic" panose="020B0600070205080204" pitchFamily="1"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TradeGothic"/>
          <a:ea typeface="MS PGothic" panose="020B0600070205080204" pitchFamily="1"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6" name="Rectangle 24"/>
          <p:cNvSpPr>
            <a:spLocks noGrp="1" noRot="1" noChangeAspect="1" noMove="1" noResize="1" noEditPoints="1" noAdjustHandles="1" noChangeArrowheads="1" noChangeShapeType="1" noTextEdit="1"/>
          </p:cNvSpPr>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p:cNvSpPr>
            <a:spLocks noGrp="1" noRot="1" noChangeAspect="1" noMove="1" noResize="1" noEditPoints="1" noAdjustHandles="1" noChangeArrowheads="1" noChangeShapeType="1" noTextEdit="1"/>
          </p:cNvSpPr>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p:cNvPicPr>
            <a:picLocks noChangeAspect="1"/>
          </p:cNvPicPr>
          <p:nvPr/>
        </p:nvPicPr>
        <p:blipFill rotWithShape="1">
          <a:blip r:embed="rId2"/>
          <a:srcRect r="59916"/>
          <a:stretch>
            <a:fillRect/>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LANDGUARD AI</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470" y="1702435"/>
            <a:ext cx="7659370" cy="5155565"/>
          </a:xfrm>
          <a:prstGeom prst="rect">
            <a:avLst/>
          </a:prstGeom>
          <a:noFill/>
        </p:spPr>
        <p:txBody>
          <a:bodyPr wrap="square" rtlCol="0">
            <a:noAutofit/>
          </a:bodyPr>
          <a:lstStyle/>
          <a:p>
            <a:endParaRPr lang="en-US" dirty="0"/>
          </a:p>
          <a:p>
            <a:pPr marL="285750" indent="-285750" algn="just">
              <a:lnSpc>
                <a:spcPct val="2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Problem Statement ID –</a:t>
            </a:r>
            <a:r>
              <a:rPr lang="en-IN" altLang="en-US" sz="2200" b="1" dirty="0">
                <a:latin typeface="Arial" panose="020B0604020202020204" pitchFamily="34" charset="0"/>
                <a:cs typeface="Arial" panose="020B0604020202020204" pitchFamily="34" charset="0"/>
              </a:rPr>
              <a:t> SIH26017</a:t>
            </a:r>
            <a:endParaRPr lang="en-US" sz="22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Problem Statement Title</a:t>
            </a:r>
            <a:r>
              <a:rPr lang="en-IN" altLang="en-US" sz="2200" b="1"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a:t>
            </a:r>
            <a:r>
              <a:rPr lang="en-IN" altLang="en-US" sz="2200" b="1" dirty="0">
                <a:latin typeface="Arial" panose="020B0604020202020204" pitchFamily="34" charset="0"/>
                <a:cs typeface="Arial" panose="020B0604020202020204" pitchFamily="34" charset="0"/>
              </a:rPr>
              <a:t> Predictive Analytics System for Early Detection of Land Aquisition Delays</a:t>
            </a:r>
            <a:endParaRPr lang="en-US" sz="22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Theme</a:t>
            </a:r>
            <a:r>
              <a:rPr lang="en-IN" altLang="en-US" sz="2200" b="1"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a:t>
            </a:r>
            <a:r>
              <a:rPr lang="en-IN" altLang="en-US" sz="2200" b="1" dirty="0">
                <a:latin typeface="Arial" panose="020B0604020202020204" pitchFamily="34" charset="0"/>
                <a:cs typeface="Arial" panose="020B0604020202020204" pitchFamily="34" charset="0"/>
              </a:rPr>
              <a:t> Smart Automation</a:t>
            </a:r>
            <a:endParaRPr lang="en-US" sz="22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PS Category- Softwar</a:t>
            </a:r>
            <a:r>
              <a:rPr lang="en-IN" altLang="en-US" sz="2200" b="1" dirty="0">
                <a:latin typeface="Arial" panose="020B0604020202020204" pitchFamily="34" charset="0"/>
                <a:cs typeface="Arial" panose="020B0604020202020204" pitchFamily="34" charset="0"/>
              </a:rPr>
              <a:t>e</a:t>
            </a:r>
            <a:endParaRPr lang="en-US" sz="22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Team ID</a:t>
            </a:r>
            <a:r>
              <a:rPr lang="en-IN" altLang="en-US" sz="2200" b="1"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a:t>
            </a:r>
          </a:p>
          <a:p>
            <a:pPr marL="285750" indent="-285750" algn="just">
              <a:lnSpc>
                <a:spcPct val="2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Team Name</a:t>
            </a:r>
            <a:r>
              <a:rPr lang="en-IN" altLang="en-US" sz="2200" b="1" dirty="0">
                <a:latin typeface="Arial" panose="020B0604020202020204" pitchFamily="34" charset="0"/>
                <a:cs typeface="Arial" panose="020B0604020202020204" pitchFamily="34" charset="0"/>
              </a:rPr>
              <a:t> - Null Pointers</a:t>
            </a:r>
          </a:p>
        </p:txBody>
      </p:sp>
      <p:pic>
        <p:nvPicPr>
          <p:cNvPr id="2" name="Picture 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Times New Roman" pitchFamily="18" charset="0"/>
              <a:ea typeface="+mn-ea"/>
              <a:cs typeface="Times New Roman" pitchFamily="18" charset="0"/>
            </a:endParaRPr>
          </a:p>
        </p:txBody>
      </p:sp>
      <p:sp>
        <p:nvSpPr>
          <p:cNvPr id="15361" name="Title 1"/>
          <p:cNvSpPr>
            <a:spLocks noGrp="1"/>
          </p:cNvSpPr>
          <p:nvPr>
            <p:ph type="title"/>
          </p:nvPr>
        </p:nvSpPr>
        <p:spPr>
          <a:xfrm>
            <a:off x="1627632" y="36576"/>
            <a:ext cx="8092440" cy="1042415"/>
          </a:xfrm>
        </p:spPr>
        <p:txBody>
          <a:bodyPr wrap="square"/>
          <a:lstStyle/>
          <a:p>
            <a:pPr algn="ctr"/>
            <a:r>
              <a:rPr sz="1200" b="1">
                <a:solidFill>
                  <a:srgbClr val="0070C0"/>
                </a:solidFill>
                <a:latin typeface="Times New Roman" pitchFamily="18" charset="0"/>
                <a:cs typeface="Times New Roman" pitchFamily="18" charset="0"/>
              </a:rPr>
              <a:t>IDEA TITLE  ·  PROPOSED SOLUTION</a:t>
            </a:r>
          </a:p>
          <a:p>
            <a:pPr algn="ctr"/>
            <a:r>
              <a:rPr sz="2400" b="1">
                <a:solidFill>
                  <a:srgbClr val="0B2A4A"/>
                </a:solidFill>
                <a:latin typeface="Times New Roman" pitchFamily="18" charset="0"/>
                <a:cs typeface="Times New Roman" pitchFamily="18" charset="0"/>
              </a:rPr>
              <a:t>FROM REACTIVE MONITORING</a:t>
            </a:r>
            <a:br>
              <a:rPr sz="2400" b="1">
                <a:solidFill>
                  <a:srgbClr val="0B2A4A"/>
                </a:solidFill>
                <a:latin typeface="Times New Roman" pitchFamily="18" charset="0"/>
                <a:cs typeface="Times New Roman" pitchFamily="18" charset="0"/>
              </a:rPr>
            </a:br>
            <a:r>
              <a:rPr sz="2400" b="1">
                <a:solidFill>
                  <a:srgbClr val="0B2A4A"/>
                </a:solidFill>
                <a:latin typeface="Times New Roman" pitchFamily="18" charset="0"/>
                <a:cs typeface="Times New Roman" pitchFamily="18" charset="0"/>
              </a:rPr>
              <a:t>TO EARLY INTERVENTION</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latin typeface="Times New Roman" pitchFamily="18" charset="0"/>
                <a:cs typeface="Times New Roman" pitchFamily="18" charset="0"/>
              </a:rPr>
              <a:pPr/>
              <a:t>2</a:t>
            </a:fld>
            <a:endParaRPr lang="en-US" b="1" dirty="0">
              <a:solidFill>
                <a:schemeClr val="bg1"/>
              </a:solidFill>
              <a:latin typeface="Times New Roman" pitchFamily="18" charset="0"/>
              <a:cs typeface="Times New Roman" pitchFamily="18" charset="0"/>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latin typeface="Times New Roman" pitchFamily="18" charset="0"/>
                <a:cs typeface="Times New Roman" pitchFamily="18" charset="0"/>
              </a:rPr>
              <a:t>@SIH Idea </a:t>
            </a:r>
            <a:r>
              <a:rPr lang="en-US" dirty="0" smtClean="0">
                <a:solidFill>
                  <a:schemeClr val="bg1"/>
                </a:solidFill>
                <a:latin typeface="Times New Roman" pitchFamily="18" charset="0"/>
                <a:cs typeface="Times New Roman" pitchFamily="18" charset="0"/>
              </a:rPr>
              <a:t>submission</a:t>
            </a:r>
            <a:endParaRPr lang="en-US" dirty="0">
              <a:solidFill>
                <a:schemeClr val="bg1"/>
              </a:solidFill>
              <a:latin typeface="Times New Roman" pitchFamily="18" charset="0"/>
              <a:cs typeface="Times New Roman" pitchFamily="18" charset="0"/>
            </a:endParaRPr>
          </a:p>
        </p:txBody>
      </p:sp>
      <p:sp>
        <p:nvSpPr>
          <p:cNvPr id="10" name="Oval 9" descr="Your startup LOGO"/>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18288" rIns="18288" rtlCol="0" anchor="ctr"/>
          <a:lstStyle/>
          <a:p>
            <a:pPr algn="ctr"/>
            <a:r>
              <a:rPr sz="1300" b="1">
                <a:solidFill>
                  <a:srgbClr val="0B2A4A"/>
                </a:solidFill>
                <a:latin typeface="Times New Roman" pitchFamily="18" charset="0"/>
                <a:cs typeface="Times New Roman" pitchFamily="18" charset="0"/>
              </a:rPr>
              <a:t>Null Pointers</a:t>
            </a:r>
            <a:endParaRPr lang="en-IN" dirty="0">
              <a:latin typeface="Times New Roman" pitchFamily="18" charset="0"/>
              <a:cs typeface="Times New Roman" pitchFamily="18" charset="0"/>
            </a:endParaRPr>
          </a:p>
        </p:txBody>
      </p:sp>
      <p:pic>
        <p:nvPicPr>
          <p:cNvPr id="11" name="Picture 10"/>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61288"/>
            <a:ext cx="3657600" cy="237744"/>
          </a:xfrm>
          <a:prstGeom prst="rect">
            <a:avLst/>
          </a:prstGeom>
          <a:noFill/>
        </p:spPr>
        <p:txBody>
          <a:bodyPr wrap="square" lIns="18288" tIns="18288" rIns="18288" bIns="18288" anchor="ctr">
            <a:noAutofit/>
          </a:bodyPr>
          <a:lstStyle/>
          <a:p>
            <a:pPr algn="l"/>
            <a:r>
              <a:rPr sz="1100" b="1" i="0">
                <a:solidFill>
                  <a:srgbClr val="64748B"/>
                </a:solidFill>
                <a:latin typeface="Times New Roman" pitchFamily="18" charset="0"/>
                <a:cs typeface="Times New Roman" pitchFamily="18" charset="0"/>
              </a:rPr>
              <a:t>CURRENT PAIN POINTS</a:t>
            </a:r>
          </a:p>
        </p:txBody>
      </p:sp>
      <p:sp>
        <p:nvSpPr>
          <p:cNvPr id="15363" name="Rounded Rectangle 15362"/>
          <p:cNvSpPr/>
          <p:nvPr/>
        </p:nvSpPr>
        <p:spPr>
          <a:xfrm>
            <a:off x="365760" y="1444752"/>
            <a:ext cx="2045208" cy="384048"/>
          </a:xfrm>
          <a:prstGeom prst="roundRect">
            <a:avLst>
              <a:gd name="adj" fmla="val 19047"/>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364" name="Picture 15363" descr="approval_b.png"/>
          <p:cNvPicPr>
            <a:picLocks noChangeAspect="1"/>
          </p:cNvPicPr>
          <p:nvPr/>
        </p:nvPicPr>
        <p:blipFill>
          <a:blip r:embed="rId4"/>
          <a:stretch>
            <a:fillRect/>
          </a:stretch>
        </p:blipFill>
        <p:spPr>
          <a:xfrm>
            <a:off x="475488" y="1517904"/>
            <a:ext cx="237744" cy="237744"/>
          </a:xfrm>
          <a:prstGeom prst="rect">
            <a:avLst/>
          </a:prstGeom>
        </p:spPr>
      </p:pic>
      <p:sp>
        <p:nvSpPr>
          <p:cNvPr id="15365" name="TextBox 15364"/>
          <p:cNvSpPr txBox="1"/>
          <p:nvPr/>
        </p:nvSpPr>
        <p:spPr>
          <a:xfrm>
            <a:off x="777240" y="1444752"/>
            <a:ext cx="1606296" cy="384048"/>
          </a:xfrm>
          <a:prstGeom prst="rect">
            <a:avLst/>
          </a:prstGeom>
          <a:noFill/>
        </p:spPr>
        <p:txBody>
          <a:bodyPr wrap="square" lIns="18288" tIns="18288" rIns="18288" bIns="18288" anchor="ctr">
            <a:noAutofit/>
          </a:bodyPr>
          <a:lstStyle/>
          <a:p>
            <a:pPr algn="l"/>
            <a:r>
              <a:rPr sz="1150" b="0" i="0">
                <a:solidFill>
                  <a:srgbClr val="1E293B"/>
                </a:solidFill>
                <a:latin typeface="Times New Roman" pitchFamily="18" charset="0"/>
                <a:cs typeface="Times New Roman" pitchFamily="18" charset="0"/>
              </a:rPr>
              <a:t>Pending approvals</a:t>
            </a:r>
          </a:p>
        </p:txBody>
      </p:sp>
      <p:sp>
        <p:nvSpPr>
          <p:cNvPr id="15366" name="Rounded Rectangle 15365"/>
          <p:cNvSpPr/>
          <p:nvPr/>
        </p:nvSpPr>
        <p:spPr>
          <a:xfrm>
            <a:off x="2520696" y="1444752"/>
            <a:ext cx="2045208" cy="384048"/>
          </a:xfrm>
          <a:prstGeom prst="roundRect">
            <a:avLst>
              <a:gd name="adj" fmla="val 19047"/>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367" name="Picture 15366" descr="legal_b.png"/>
          <p:cNvPicPr>
            <a:picLocks noChangeAspect="1"/>
          </p:cNvPicPr>
          <p:nvPr/>
        </p:nvPicPr>
        <p:blipFill>
          <a:blip r:embed="rId5"/>
          <a:stretch>
            <a:fillRect/>
          </a:stretch>
        </p:blipFill>
        <p:spPr>
          <a:xfrm>
            <a:off x="2630424" y="1517904"/>
            <a:ext cx="237744" cy="237744"/>
          </a:xfrm>
          <a:prstGeom prst="rect">
            <a:avLst/>
          </a:prstGeom>
        </p:spPr>
      </p:pic>
      <p:sp>
        <p:nvSpPr>
          <p:cNvPr id="15368" name="TextBox 15367"/>
          <p:cNvSpPr txBox="1"/>
          <p:nvPr/>
        </p:nvSpPr>
        <p:spPr>
          <a:xfrm>
            <a:off x="2932176" y="1444752"/>
            <a:ext cx="1606296" cy="384048"/>
          </a:xfrm>
          <a:prstGeom prst="rect">
            <a:avLst/>
          </a:prstGeom>
          <a:noFill/>
        </p:spPr>
        <p:txBody>
          <a:bodyPr wrap="square" lIns="18288" tIns="18288" rIns="18288" bIns="18288" anchor="ctr">
            <a:noAutofit/>
          </a:bodyPr>
          <a:lstStyle/>
          <a:p>
            <a:pPr algn="l"/>
            <a:r>
              <a:rPr sz="1150" b="0" i="0">
                <a:solidFill>
                  <a:srgbClr val="1E293B"/>
                </a:solidFill>
                <a:latin typeface="Times New Roman" pitchFamily="18" charset="0"/>
                <a:cs typeface="Times New Roman" pitchFamily="18" charset="0"/>
              </a:rPr>
              <a:t>Legal disputes</a:t>
            </a:r>
          </a:p>
        </p:txBody>
      </p:sp>
      <p:sp>
        <p:nvSpPr>
          <p:cNvPr id="15369" name="Rounded Rectangle 15368"/>
          <p:cNvSpPr/>
          <p:nvPr/>
        </p:nvSpPr>
        <p:spPr>
          <a:xfrm>
            <a:off x="4675632" y="1444752"/>
            <a:ext cx="2045208" cy="384048"/>
          </a:xfrm>
          <a:prstGeom prst="roundRect">
            <a:avLst>
              <a:gd name="adj" fmla="val 19047"/>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370" name="Picture 15369" descr="rupee_b.png"/>
          <p:cNvPicPr>
            <a:picLocks noChangeAspect="1"/>
          </p:cNvPicPr>
          <p:nvPr/>
        </p:nvPicPr>
        <p:blipFill>
          <a:blip r:embed="rId6"/>
          <a:stretch>
            <a:fillRect/>
          </a:stretch>
        </p:blipFill>
        <p:spPr>
          <a:xfrm>
            <a:off x="4785360" y="1517904"/>
            <a:ext cx="237744" cy="237744"/>
          </a:xfrm>
          <a:prstGeom prst="rect">
            <a:avLst/>
          </a:prstGeom>
        </p:spPr>
      </p:pic>
      <p:sp>
        <p:nvSpPr>
          <p:cNvPr id="15371" name="TextBox 15370"/>
          <p:cNvSpPr txBox="1"/>
          <p:nvPr/>
        </p:nvSpPr>
        <p:spPr>
          <a:xfrm>
            <a:off x="5087112" y="1444752"/>
            <a:ext cx="1606296" cy="384048"/>
          </a:xfrm>
          <a:prstGeom prst="rect">
            <a:avLst/>
          </a:prstGeom>
          <a:noFill/>
        </p:spPr>
        <p:txBody>
          <a:bodyPr wrap="square" lIns="18288" tIns="18288" rIns="18288" bIns="18288" anchor="ctr">
            <a:noAutofit/>
          </a:bodyPr>
          <a:lstStyle/>
          <a:p>
            <a:pPr algn="l"/>
            <a:r>
              <a:rPr sz="1150" b="0" i="0">
                <a:solidFill>
                  <a:srgbClr val="1E293B"/>
                </a:solidFill>
                <a:latin typeface="Times New Roman" pitchFamily="18" charset="0"/>
                <a:cs typeface="Times New Roman" pitchFamily="18" charset="0"/>
              </a:rPr>
              <a:t>Compensation gaps</a:t>
            </a:r>
          </a:p>
        </p:txBody>
      </p:sp>
      <p:sp>
        <p:nvSpPr>
          <p:cNvPr id="15372" name="Rounded Rectangle 15371"/>
          <p:cNvSpPr/>
          <p:nvPr/>
        </p:nvSpPr>
        <p:spPr>
          <a:xfrm>
            <a:off x="365760" y="1901952"/>
            <a:ext cx="2045208" cy="384048"/>
          </a:xfrm>
          <a:prstGeom prst="roundRect">
            <a:avLst>
              <a:gd name="adj" fmla="val 19047"/>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373" name="Picture 15372" descr="key_b.png"/>
          <p:cNvPicPr>
            <a:picLocks noChangeAspect="1"/>
          </p:cNvPicPr>
          <p:nvPr/>
        </p:nvPicPr>
        <p:blipFill>
          <a:blip r:embed="rId7"/>
          <a:stretch>
            <a:fillRect/>
          </a:stretch>
        </p:blipFill>
        <p:spPr>
          <a:xfrm>
            <a:off x="475488" y="1975104"/>
            <a:ext cx="237744" cy="237744"/>
          </a:xfrm>
          <a:prstGeom prst="rect">
            <a:avLst/>
          </a:prstGeom>
        </p:spPr>
      </p:pic>
      <p:sp>
        <p:nvSpPr>
          <p:cNvPr id="15374" name="TextBox 15373"/>
          <p:cNvSpPr txBox="1"/>
          <p:nvPr/>
        </p:nvSpPr>
        <p:spPr>
          <a:xfrm>
            <a:off x="777240" y="1901952"/>
            <a:ext cx="1606296" cy="384048"/>
          </a:xfrm>
          <a:prstGeom prst="rect">
            <a:avLst/>
          </a:prstGeom>
          <a:noFill/>
        </p:spPr>
        <p:txBody>
          <a:bodyPr wrap="square" lIns="18288" tIns="18288" rIns="18288" bIns="18288" anchor="ctr">
            <a:noAutofit/>
          </a:bodyPr>
          <a:lstStyle/>
          <a:p>
            <a:pPr algn="l"/>
            <a:r>
              <a:rPr sz="1150" b="0" i="0">
                <a:solidFill>
                  <a:srgbClr val="1E293B"/>
                </a:solidFill>
                <a:latin typeface="Times New Roman" pitchFamily="18" charset="0"/>
                <a:cs typeface="Times New Roman" pitchFamily="18" charset="0"/>
              </a:rPr>
              <a:t>Possession delays</a:t>
            </a:r>
          </a:p>
        </p:txBody>
      </p:sp>
      <p:sp>
        <p:nvSpPr>
          <p:cNvPr id="15375" name="Rounded Rectangle 15374"/>
          <p:cNvSpPr/>
          <p:nvPr/>
        </p:nvSpPr>
        <p:spPr>
          <a:xfrm>
            <a:off x="2520696" y="1901952"/>
            <a:ext cx="2045208" cy="384048"/>
          </a:xfrm>
          <a:prstGeom prst="roundRect">
            <a:avLst>
              <a:gd name="adj" fmla="val 19047"/>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376" name="Picture 15375" descr="people_b.png"/>
          <p:cNvPicPr>
            <a:picLocks noChangeAspect="1"/>
          </p:cNvPicPr>
          <p:nvPr/>
        </p:nvPicPr>
        <p:blipFill>
          <a:blip r:embed="rId8"/>
          <a:stretch>
            <a:fillRect/>
          </a:stretch>
        </p:blipFill>
        <p:spPr>
          <a:xfrm>
            <a:off x="2630424" y="1975104"/>
            <a:ext cx="237744" cy="237744"/>
          </a:xfrm>
          <a:prstGeom prst="rect">
            <a:avLst/>
          </a:prstGeom>
        </p:spPr>
      </p:pic>
      <p:sp>
        <p:nvSpPr>
          <p:cNvPr id="15377" name="TextBox 15376"/>
          <p:cNvSpPr txBox="1"/>
          <p:nvPr/>
        </p:nvSpPr>
        <p:spPr>
          <a:xfrm>
            <a:off x="2932176" y="1901952"/>
            <a:ext cx="1606296" cy="384048"/>
          </a:xfrm>
          <a:prstGeom prst="rect">
            <a:avLst/>
          </a:prstGeom>
          <a:noFill/>
        </p:spPr>
        <p:txBody>
          <a:bodyPr wrap="square" lIns="18288" tIns="18288" rIns="18288" bIns="18288" anchor="ctr">
            <a:noAutofit/>
          </a:bodyPr>
          <a:lstStyle/>
          <a:p>
            <a:pPr algn="l"/>
            <a:r>
              <a:rPr sz="1150" b="0" i="0">
                <a:solidFill>
                  <a:srgbClr val="1E293B"/>
                </a:solidFill>
                <a:latin typeface="Times New Roman" pitchFamily="18" charset="0"/>
                <a:cs typeface="Times New Roman" pitchFamily="18" charset="0"/>
              </a:rPr>
              <a:t>R&amp;R delays</a:t>
            </a:r>
          </a:p>
        </p:txBody>
      </p:sp>
      <p:sp>
        <p:nvSpPr>
          <p:cNvPr id="15378" name="Rounded Rectangle 15377"/>
          <p:cNvSpPr/>
          <p:nvPr/>
        </p:nvSpPr>
        <p:spPr>
          <a:xfrm>
            <a:off x="4675632" y="1901952"/>
            <a:ext cx="2045208" cy="384048"/>
          </a:xfrm>
          <a:prstGeom prst="roundRect">
            <a:avLst>
              <a:gd name="adj" fmla="val 19047"/>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379" name="Picture 15378" descr="puzzle_b.png"/>
          <p:cNvPicPr>
            <a:picLocks noChangeAspect="1"/>
          </p:cNvPicPr>
          <p:nvPr/>
        </p:nvPicPr>
        <p:blipFill>
          <a:blip r:embed="rId9"/>
          <a:stretch>
            <a:fillRect/>
          </a:stretch>
        </p:blipFill>
        <p:spPr>
          <a:xfrm>
            <a:off x="4785360" y="1975104"/>
            <a:ext cx="237744" cy="237744"/>
          </a:xfrm>
          <a:prstGeom prst="rect">
            <a:avLst/>
          </a:prstGeom>
        </p:spPr>
      </p:pic>
      <p:sp>
        <p:nvSpPr>
          <p:cNvPr id="15380" name="TextBox 15379"/>
          <p:cNvSpPr txBox="1"/>
          <p:nvPr/>
        </p:nvSpPr>
        <p:spPr>
          <a:xfrm>
            <a:off x="5087112" y="1901952"/>
            <a:ext cx="1606296" cy="384048"/>
          </a:xfrm>
          <a:prstGeom prst="rect">
            <a:avLst/>
          </a:prstGeom>
          <a:noFill/>
        </p:spPr>
        <p:txBody>
          <a:bodyPr wrap="square" lIns="18288" tIns="18288" rIns="18288" bIns="18288" anchor="ctr">
            <a:noAutofit/>
          </a:bodyPr>
          <a:lstStyle/>
          <a:p>
            <a:pPr algn="l"/>
            <a:r>
              <a:rPr sz="1150" b="0" i="0">
                <a:solidFill>
                  <a:srgbClr val="1E293B"/>
                </a:solidFill>
                <a:latin typeface="Times New Roman" pitchFamily="18" charset="0"/>
                <a:cs typeface="Times New Roman" pitchFamily="18" charset="0"/>
              </a:rPr>
              <a:t>Fragmented signals</a:t>
            </a:r>
          </a:p>
        </p:txBody>
      </p:sp>
      <p:sp>
        <p:nvSpPr>
          <p:cNvPr id="15381" name="TextBox 15380"/>
          <p:cNvSpPr txBox="1"/>
          <p:nvPr/>
        </p:nvSpPr>
        <p:spPr>
          <a:xfrm>
            <a:off x="365760" y="2468880"/>
            <a:ext cx="6355080" cy="256032"/>
          </a:xfrm>
          <a:prstGeom prst="rect">
            <a:avLst/>
          </a:prstGeom>
          <a:noFill/>
        </p:spPr>
        <p:txBody>
          <a:bodyPr wrap="square" lIns="18288" tIns="18288" rIns="18288" bIns="18288" anchor="ctr">
            <a:noAutofit/>
          </a:bodyPr>
          <a:lstStyle/>
          <a:p>
            <a:pPr algn="l"/>
            <a:r>
              <a:rPr sz="1100" b="1" i="0">
                <a:solidFill>
                  <a:srgbClr val="64748B"/>
                </a:solidFill>
                <a:latin typeface="Times New Roman" pitchFamily="18" charset="0"/>
                <a:cs typeface="Times New Roman" pitchFamily="18" charset="0"/>
              </a:rPr>
              <a:t>TRADITIONAL</a:t>
            </a:r>
            <a:r>
              <a:rPr sz="1100" b="0" i="1">
                <a:solidFill>
                  <a:srgbClr val="64748B"/>
                </a:solidFill>
                <a:latin typeface="Times New Roman" pitchFamily="18" charset="0"/>
                <a:cs typeface="Times New Roman" pitchFamily="18" charset="0"/>
              </a:rPr>
              <a:t>  —  record, then react</a:t>
            </a:r>
          </a:p>
        </p:txBody>
      </p:sp>
      <p:sp>
        <p:nvSpPr>
          <p:cNvPr id="15382" name="Rounded Rectangle 15381"/>
          <p:cNvSpPr/>
          <p:nvPr/>
        </p:nvSpPr>
        <p:spPr>
          <a:xfrm>
            <a:off x="365760" y="2761488"/>
            <a:ext cx="1935480" cy="566928"/>
          </a:xfrm>
          <a:prstGeom prst="roundRect">
            <a:avLst>
              <a:gd name="adj" fmla="val 14516"/>
            </a:avLst>
          </a:prstGeom>
          <a:solidFill>
            <a:srgbClr val="F6F8FB"/>
          </a:solidFill>
          <a:ln w="15875">
            <a:solidFill>
              <a:srgbClr val="CBD5E1"/>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50" b="1" i="0">
                <a:solidFill>
                  <a:srgbClr val="475569"/>
                </a:solidFill>
                <a:latin typeface="Times New Roman" pitchFamily="18" charset="0"/>
                <a:cs typeface="Times New Roman" pitchFamily="18" charset="0"/>
              </a:rPr>
              <a:t>Issue recorded</a:t>
            </a:r>
          </a:p>
        </p:txBody>
      </p:sp>
      <p:sp>
        <p:nvSpPr>
          <p:cNvPr id="15383" name="Rounded Rectangle 15382"/>
          <p:cNvSpPr/>
          <p:nvPr/>
        </p:nvSpPr>
        <p:spPr>
          <a:xfrm>
            <a:off x="2575560" y="2761488"/>
            <a:ext cx="1935480" cy="566928"/>
          </a:xfrm>
          <a:prstGeom prst="roundRect">
            <a:avLst>
              <a:gd name="adj" fmla="val 14516"/>
            </a:avLst>
          </a:prstGeom>
          <a:solidFill>
            <a:srgbClr val="FEF3C7"/>
          </a:solidFill>
          <a:ln w="15875">
            <a:solidFill>
              <a:srgbClr val="D9770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50" b="1" i="0">
                <a:solidFill>
                  <a:srgbClr val="92400E"/>
                </a:solidFill>
                <a:latin typeface="Times New Roman" pitchFamily="18" charset="0"/>
                <a:cs typeface="Times New Roman" pitchFamily="18" charset="0"/>
              </a:rPr>
              <a:t>Delay becomes visible</a:t>
            </a:r>
          </a:p>
        </p:txBody>
      </p:sp>
      <p:cxnSp>
        <p:nvCxnSpPr>
          <p:cNvPr id="15384" name="Connector 15383"/>
          <p:cNvCxnSpPr>
            <a:stCxn id="15382" idx="3"/>
            <a:endCxn id="15383" idx="1"/>
          </p:cNvCxnSpPr>
          <p:nvPr/>
        </p:nvCxnSpPr>
        <p:spPr>
          <a:xfrm flipV="1">
            <a:off x="2301240" y="3044952"/>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85" name="Rounded Rectangle 15384"/>
          <p:cNvSpPr/>
          <p:nvPr/>
        </p:nvSpPr>
        <p:spPr>
          <a:xfrm>
            <a:off x="4785360" y="2761488"/>
            <a:ext cx="1935480" cy="566928"/>
          </a:xfrm>
          <a:prstGeom prst="roundRect">
            <a:avLst>
              <a:gd name="adj" fmla="val 14516"/>
            </a:avLst>
          </a:prstGeom>
          <a:solidFill>
            <a:srgbClr val="FEF3C7"/>
          </a:solidFill>
          <a:ln w="15875">
            <a:solidFill>
              <a:srgbClr val="D9770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50" b="1" i="0">
                <a:solidFill>
                  <a:srgbClr val="92400E"/>
                </a:solidFill>
                <a:latin typeface="Times New Roman" pitchFamily="18" charset="0"/>
                <a:cs typeface="Times New Roman" pitchFamily="18" charset="0"/>
              </a:rPr>
              <a:t>Escalation</a:t>
            </a:r>
          </a:p>
        </p:txBody>
      </p:sp>
      <p:cxnSp>
        <p:nvCxnSpPr>
          <p:cNvPr id="15386" name="Connector 15385"/>
          <p:cNvCxnSpPr>
            <a:stCxn id="15383" idx="3"/>
            <a:endCxn id="15385" idx="1"/>
          </p:cNvCxnSpPr>
          <p:nvPr/>
        </p:nvCxnSpPr>
        <p:spPr>
          <a:xfrm flipV="1">
            <a:off x="4511040" y="3044952"/>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87" name="TextBox 15386"/>
          <p:cNvSpPr txBox="1"/>
          <p:nvPr/>
        </p:nvSpPr>
        <p:spPr>
          <a:xfrm>
            <a:off x="365760" y="3611880"/>
            <a:ext cx="6355080" cy="256032"/>
          </a:xfrm>
          <a:prstGeom prst="rect">
            <a:avLst/>
          </a:prstGeom>
          <a:noFill/>
        </p:spPr>
        <p:txBody>
          <a:bodyPr wrap="square" lIns="18288" tIns="18288" rIns="18288" bIns="18288" anchor="ctr">
            <a:noAutofit/>
          </a:bodyPr>
          <a:lstStyle/>
          <a:p>
            <a:pPr algn="l"/>
            <a:r>
              <a:rPr sz="1100" b="1" i="0">
                <a:solidFill>
                  <a:srgbClr val="0E7C86"/>
                </a:solidFill>
                <a:latin typeface="Times New Roman" pitchFamily="18" charset="0"/>
                <a:cs typeface="Times New Roman" pitchFamily="18" charset="0"/>
              </a:rPr>
              <a:t>LANDGUARD</a:t>
            </a:r>
            <a:r>
              <a:rPr sz="1100" b="0" i="1">
                <a:solidFill>
                  <a:srgbClr val="64748B"/>
                </a:solidFill>
                <a:latin typeface="Times New Roman" pitchFamily="18" charset="0"/>
                <a:cs typeface="Times New Roman" pitchFamily="18" charset="0"/>
              </a:rPr>
              <a:t>  —  detect, prioritise, act</a:t>
            </a:r>
          </a:p>
        </p:txBody>
      </p:sp>
      <p:sp>
        <p:nvSpPr>
          <p:cNvPr id="15388" name="Rounded Rectangle 15387"/>
          <p:cNvSpPr/>
          <p:nvPr/>
        </p:nvSpPr>
        <p:spPr>
          <a:xfrm>
            <a:off x="365760" y="3904487"/>
            <a:ext cx="1383030" cy="566928"/>
          </a:xfrm>
          <a:prstGeom prst="roundRect">
            <a:avLst>
              <a:gd name="adj" fmla="val 14516"/>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Times New Roman" pitchFamily="18" charset="0"/>
                <a:cs typeface="Times New Roman" pitchFamily="18" charset="0"/>
              </a:rPr>
              <a:t>Risk detected</a:t>
            </a:r>
          </a:p>
        </p:txBody>
      </p:sp>
      <p:sp>
        <p:nvSpPr>
          <p:cNvPr id="15389" name="Rounded Rectangle 15388"/>
          <p:cNvSpPr/>
          <p:nvPr/>
        </p:nvSpPr>
        <p:spPr>
          <a:xfrm>
            <a:off x="2023110" y="3904487"/>
            <a:ext cx="1383030" cy="566928"/>
          </a:xfrm>
          <a:prstGeom prst="roundRect">
            <a:avLst>
              <a:gd name="adj" fmla="val 14516"/>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Times New Roman" pitchFamily="18" charset="0"/>
                <a:cs typeface="Times New Roman" pitchFamily="18" charset="0"/>
              </a:rPr>
              <a:t>Bottleneck identified</a:t>
            </a:r>
          </a:p>
        </p:txBody>
      </p:sp>
      <p:cxnSp>
        <p:nvCxnSpPr>
          <p:cNvPr id="15390" name="Connector 15389"/>
          <p:cNvCxnSpPr>
            <a:stCxn id="15388" idx="3"/>
            <a:endCxn id="15389" idx="1"/>
          </p:cNvCxnSpPr>
          <p:nvPr/>
        </p:nvCxnSpPr>
        <p:spPr>
          <a:xfrm flipV="1">
            <a:off x="1748790" y="4187951"/>
            <a:ext cx="274320" cy="0"/>
          </a:xfrm>
          <a:prstGeom prst="line">
            <a:avLst/>
          </a:prstGeom>
          <a:ln w="2857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91" name="Rounded Rectangle 15390"/>
          <p:cNvSpPr/>
          <p:nvPr/>
        </p:nvSpPr>
        <p:spPr>
          <a:xfrm>
            <a:off x="3680460" y="3904487"/>
            <a:ext cx="1383030" cy="566928"/>
          </a:xfrm>
          <a:prstGeom prst="roundRect">
            <a:avLst>
              <a:gd name="adj" fmla="val 14516"/>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Times New Roman" pitchFamily="18" charset="0"/>
                <a:cs typeface="Times New Roman" pitchFamily="18" charset="0"/>
              </a:rPr>
              <a:t>Priority assigned</a:t>
            </a:r>
          </a:p>
        </p:txBody>
      </p:sp>
      <p:cxnSp>
        <p:nvCxnSpPr>
          <p:cNvPr id="15392" name="Connector 15391"/>
          <p:cNvCxnSpPr>
            <a:stCxn id="15389" idx="3"/>
            <a:endCxn id="15391" idx="1"/>
          </p:cNvCxnSpPr>
          <p:nvPr/>
        </p:nvCxnSpPr>
        <p:spPr>
          <a:xfrm flipV="1">
            <a:off x="3406140" y="4187951"/>
            <a:ext cx="274320" cy="0"/>
          </a:xfrm>
          <a:prstGeom prst="line">
            <a:avLst/>
          </a:prstGeom>
          <a:ln w="2857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93" name="Rounded Rectangle 15392"/>
          <p:cNvSpPr/>
          <p:nvPr/>
        </p:nvSpPr>
        <p:spPr>
          <a:xfrm>
            <a:off x="5337810" y="3904487"/>
            <a:ext cx="1383030" cy="566928"/>
          </a:xfrm>
          <a:prstGeom prst="roundRect">
            <a:avLst>
              <a:gd name="adj" fmla="val 14516"/>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Times New Roman" pitchFamily="18" charset="0"/>
                <a:cs typeface="Times New Roman" pitchFamily="18" charset="0"/>
              </a:rPr>
              <a:t>Intervention tracked</a:t>
            </a:r>
          </a:p>
        </p:txBody>
      </p:sp>
      <p:cxnSp>
        <p:nvCxnSpPr>
          <p:cNvPr id="15394" name="Connector 15393"/>
          <p:cNvCxnSpPr>
            <a:stCxn id="15391" idx="3"/>
            <a:endCxn id="15393" idx="1"/>
          </p:cNvCxnSpPr>
          <p:nvPr/>
        </p:nvCxnSpPr>
        <p:spPr>
          <a:xfrm flipV="1">
            <a:off x="5063490" y="4187951"/>
            <a:ext cx="274320" cy="0"/>
          </a:xfrm>
          <a:prstGeom prst="line">
            <a:avLst/>
          </a:prstGeom>
          <a:ln w="2857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395" name="Rounded Rectangle 15394"/>
          <p:cNvSpPr/>
          <p:nvPr/>
        </p:nvSpPr>
        <p:spPr>
          <a:xfrm>
            <a:off x="365760" y="4846320"/>
            <a:ext cx="6355080" cy="1115568"/>
          </a:xfrm>
          <a:prstGeom prst="roundRect">
            <a:avLst>
              <a:gd name="adj" fmla="val 9836"/>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182880" tIns="73152" rIns="182880" bIns="73152" rtlCol="0" anchor="ctr">
            <a:noAutofit/>
          </a:bodyPr>
          <a:lstStyle/>
          <a:p>
            <a:pPr algn="l"/>
            <a:r>
              <a:rPr sz="1500" b="1" i="0">
                <a:solidFill>
                  <a:srgbClr val="FFFFFF"/>
                </a:solidFill>
                <a:latin typeface="Times New Roman" pitchFamily="18" charset="0"/>
                <a:cs typeface="Times New Roman" pitchFamily="18" charset="0"/>
              </a:rPr>
              <a:t>Existing systems primarily record and monitor progress. LandGuard adds an acquisition-aware prioritisation and intervention layer.</a:t>
            </a:r>
          </a:p>
        </p:txBody>
      </p:sp>
      <p:sp>
        <p:nvSpPr>
          <p:cNvPr id="15396" name="System boundary"/>
          <p:cNvSpPr/>
          <p:nvPr/>
        </p:nvSpPr>
        <p:spPr>
          <a:xfrm>
            <a:off x="8183879" y="1188720"/>
            <a:ext cx="3639312" cy="4800600"/>
          </a:xfrm>
          <a:prstGeom prst="roundRect">
            <a:avLst>
              <a:gd name="adj" fmla="val 2512"/>
            </a:avLst>
          </a:prstGeom>
          <a:solidFill>
            <a:srgbClr val="F6F8FB"/>
          </a:solidFill>
          <a:ln w="19050">
            <a:solidFill>
              <a:srgbClr val="1F4E8C"/>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sp>
        <p:nvSpPr>
          <p:cNvPr id="15397" name="TextBox 15396"/>
          <p:cNvSpPr txBox="1"/>
          <p:nvPr/>
        </p:nvSpPr>
        <p:spPr>
          <a:xfrm>
            <a:off x="8275319" y="1234440"/>
            <a:ext cx="3456432" cy="274320"/>
          </a:xfrm>
          <a:prstGeom prst="rect">
            <a:avLst/>
          </a:prstGeom>
          <a:noFill/>
        </p:spPr>
        <p:txBody>
          <a:bodyPr wrap="square" lIns="18288" tIns="18288" rIns="18288" bIns="18288" anchor="ctr">
            <a:noAutofit/>
          </a:bodyPr>
          <a:lstStyle/>
          <a:p>
            <a:pPr algn="ctr"/>
            <a:r>
              <a:rPr sz="1200" b="1" i="0">
                <a:solidFill>
                  <a:srgbClr val="1F4E8C"/>
                </a:solidFill>
                <a:latin typeface="Times New Roman" pitchFamily="18" charset="0"/>
                <a:cs typeface="Times New Roman" pitchFamily="18" charset="0"/>
              </a:rPr>
              <a:t>LANDGUARD</a:t>
            </a:r>
          </a:p>
        </p:txBody>
      </p:sp>
      <p:cxnSp>
        <p:nvCxnSpPr>
          <p:cNvPr id="15398" name="Connector 15397"/>
          <p:cNvCxnSpPr/>
          <p:nvPr/>
        </p:nvCxnSpPr>
        <p:spPr>
          <a:xfrm>
            <a:off x="8385048" y="1732788"/>
            <a:ext cx="0" cy="64008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399" name="Connector 15398"/>
          <p:cNvCxnSpPr/>
          <p:nvPr/>
        </p:nvCxnSpPr>
        <p:spPr>
          <a:xfrm>
            <a:off x="8385048" y="1732788"/>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00" name="Rounded Rectangle 15399"/>
          <p:cNvSpPr/>
          <p:nvPr/>
        </p:nvSpPr>
        <p:spPr>
          <a:xfrm>
            <a:off x="8567928" y="1600200"/>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Manage users</a:t>
            </a:r>
          </a:p>
        </p:txBody>
      </p:sp>
      <p:cxnSp>
        <p:nvCxnSpPr>
          <p:cNvPr id="15401" name="Connector 15400"/>
          <p:cNvCxnSpPr/>
          <p:nvPr/>
        </p:nvCxnSpPr>
        <p:spPr>
          <a:xfrm>
            <a:off x="8385048" y="2052828"/>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02" name="Rounded Rectangle 15401"/>
          <p:cNvSpPr/>
          <p:nvPr/>
        </p:nvSpPr>
        <p:spPr>
          <a:xfrm>
            <a:off x="8567928" y="1920240"/>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Invitations / access</a:t>
            </a:r>
          </a:p>
        </p:txBody>
      </p:sp>
      <p:cxnSp>
        <p:nvCxnSpPr>
          <p:cNvPr id="15403" name="Connector 15402"/>
          <p:cNvCxnSpPr/>
          <p:nvPr/>
        </p:nvCxnSpPr>
        <p:spPr>
          <a:xfrm>
            <a:off x="8385048" y="2372868"/>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04" name="Rounded Rectangle 15403"/>
          <p:cNvSpPr/>
          <p:nvPr/>
        </p:nvSpPr>
        <p:spPr>
          <a:xfrm>
            <a:off x="8567928" y="2240280"/>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Monitor data pipeline</a:t>
            </a:r>
          </a:p>
        </p:txBody>
      </p:sp>
      <p:cxnSp>
        <p:nvCxnSpPr>
          <p:cNvPr id="15405" name="Connector 15404"/>
          <p:cNvCxnSpPr/>
          <p:nvPr/>
        </p:nvCxnSpPr>
        <p:spPr>
          <a:xfrm>
            <a:off x="7607808" y="2052828"/>
            <a:ext cx="77724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06" name="Oval 15405"/>
          <p:cNvSpPr/>
          <p:nvPr/>
        </p:nvSpPr>
        <p:spPr>
          <a:xfrm>
            <a:off x="7132320" y="1714500"/>
            <a:ext cx="457200" cy="457200"/>
          </a:xfrm>
          <a:prstGeom prst="ellips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407" name="Picture 15406" descr="admin_w.png"/>
          <p:cNvPicPr>
            <a:picLocks noChangeAspect="1"/>
          </p:cNvPicPr>
          <p:nvPr/>
        </p:nvPicPr>
        <p:blipFill>
          <a:blip r:embed="rId10"/>
          <a:stretch>
            <a:fillRect/>
          </a:stretch>
        </p:blipFill>
        <p:spPr>
          <a:xfrm>
            <a:off x="7242048" y="1824228"/>
            <a:ext cx="237744" cy="237744"/>
          </a:xfrm>
          <a:prstGeom prst="rect">
            <a:avLst/>
          </a:prstGeom>
        </p:spPr>
      </p:pic>
      <p:sp>
        <p:nvSpPr>
          <p:cNvPr id="15408" name="TextBox 15407"/>
          <p:cNvSpPr txBox="1"/>
          <p:nvPr/>
        </p:nvSpPr>
        <p:spPr>
          <a:xfrm>
            <a:off x="6830568" y="2199132"/>
            <a:ext cx="1060704" cy="329184"/>
          </a:xfrm>
          <a:prstGeom prst="rect">
            <a:avLst/>
          </a:prstGeom>
          <a:noFill/>
        </p:spPr>
        <p:txBody>
          <a:bodyPr wrap="square" lIns="0" tIns="0" rIns="0" bIns="0" anchor="t">
            <a:noAutofit/>
          </a:bodyPr>
          <a:lstStyle/>
          <a:p>
            <a:pPr algn="ctr"/>
            <a:r>
              <a:rPr sz="950" b="1" i="0">
                <a:solidFill>
                  <a:srgbClr val="0B2A4A"/>
                </a:solidFill>
                <a:latin typeface="Times New Roman" pitchFamily="18" charset="0"/>
                <a:cs typeface="Times New Roman" pitchFamily="18" charset="0"/>
              </a:rPr>
              <a:t>SYSTEM ADMIN</a:t>
            </a:r>
          </a:p>
        </p:txBody>
      </p:sp>
      <p:cxnSp>
        <p:nvCxnSpPr>
          <p:cNvPr id="15409" name="Connector 15408"/>
          <p:cNvCxnSpPr/>
          <p:nvPr/>
        </p:nvCxnSpPr>
        <p:spPr>
          <a:xfrm>
            <a:off x="8385048" y="2756916"/>
            <a:ext cx="0" cy="64008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410" name="Connector 15409"/>
          <p:cNvCxnSpPr/>
          <p:nvPr/>
        </p:nvCxnSpPr>
        <p:spPr>
          <a:xfrm>
            <a:off x="8385048" y="2756916"/>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11" name="Rounded Rectangle 15410"/>
          <p:cNvSpPr/>
          <p:nvPr/>
        </p:nvSpPr>
        <p:spPr>
          <a:xfrm>
            <a:off x="8567928" y="2624328"/>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State portfolio</a:t>
            </a:r>
          </a:p>
        </p:txBody>
      </p:sp>
      <p:cxnSp>
        <p:nvCxnSpPr>
          <p:cNvPr id="15412" name="Connector 15411"/>
          <p:cNvCxnSpPr/>
          <p:nvPr/>
        </p:nvCxnSpPr>
        <p:spPr>
          <a:xfrm>
            <a:off x="8385048" y="3076956"/>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13" name="Rounded Rectangle 15412"/>
          <p:cNvSpPr/>
          <p:nvPr/>
        </p:nvSpPr>
        <p:spPr>
          <a:xfrm>
            <a:off x="8567928" y="2944368"/>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High-priority projects</a:t>
            </a:r>
          </a:p>
        </p:txBody>
      </p:sp>
      <p:cxnSp>
        <p:nvCxnSpPr>
          <p:cNvPr id="15414" name="Connector 15413"/>
          <p:cNvCxnSpPr/>
          <p:nvPr/>
        </p:nvCxnSpPr>
        <p:spPr>
          <a:xfrm>
            <a:off x="8385048" y="3396996"/>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15" name="Rounded Rectangle 15414"/>
          <p:cNvSpPr/>
          <p:nvPr/>
        </p:nvSpPr>
        <p:spPr>
          <a:xfrm>
            <a:off x="8567928" y="3264408"/>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Intervention oversight</a:t>
            </a:r>
          </a:p>
        </p:txBody>
      </p:sp>
      <p:cxnSp>
        <p:nvCxnSpPr>
          <p:cNvPr id="15416" name="Connector 15415"/>
          <p:cNvCxnSpPr/>
          <p:nvPr/>
        </p:nvCxnSpPr>
        <p:spPr>
          <a:xfrm>
            <a:off x="7607808" y="3076956"/>
            <a:ext cx="77724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17" name="Oval 15416"/>
          <p:cNvSpPr/>
          <p:nvPr/>
        </p:nvSpPr>
        <p:spPr>
          <a:xfrm>
            <a:off x="7132320" y="2738628"/>
            <a:ext cx="457200" cy="457200"/>
          </a:xfrm>
          <a:prstGeom prst="ellips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418" name="Picture 15417" descr="state_w.png"/>
          <p:cNvPicPr>
            <a:picLocks noChangeAspect="1"/>
          </p:cNvPicPr>
          <p:nvPr/>
        </p:nvPicPr>
        <p:blipFill>
          <a:blip r:embed="rId11"/>
          <a:stretch>
            <a:fillRect/>
          </a:stretch>
        </p:blipFill>
        <p:spPr>
          <a:xfrm>
            <a:off x="7242048" y="2848356"/>
            <a:ext cx="237744" cy="237744"/>
          </a:xfrm>
          <a:prstGeom prst="rect">
            <a:avLst/>
          </a:prstGeom>
        </p:spPr>
      </p:pic>
      <p:sp>
        <p:nvSpPr>
          <p:cNvPr id="15419" name="TextBox 15418"/>
          <p:cNvSpPr txBox="1"/>
          <p:nvPr/>
        </p:nvSpPr>
        <p:spPr>
          <a:xfrm>
            <a:off x="6830568" y="3223260"/>
            <a:ext cx="1060704" cy="329184"/>
          </a:xfrm>
          <a:prstGeom prst="rect">
            <a:avLst/>
          </a:prstGeom>
          <a:noFill/>
        </p:spPr>
        <p:txBody>
          <a:bodyPr wrap="square" lIns="0" tIns="0" rIns="0" bIns="0" anchor="t">
            <a:noAutofit/>
          </a:bodyPr>
          <a:lstStyle/>
          <a:p>
            <a:pPr algn="ctr"/>
            <a:r>
              <a:rPr sz="950" b="1" i="0">
                <a:solidFill>
                  <a:srgbClr val="0B2A4A"/>
                </a:solidFill>
                <a:latin typeface="Times New Roman" pitchFamily="18" charset="0"/>
                <a:cs typeface="Times New Roman" pitchFamily="18" charset="0"/>
              </a:rPr>
              <a:t>STATE OFFICER</a:t>
            </a:r>
          </a:p>
        </p:txBody>
      </p:sp>
      <p:cxnSp>
        <p:nvCxnSpPr>
          <p:cNvPr id="15420" name="Connector 15419"/>
          <p:cNvCxnSpPr/>
          <p:nvPr/>
        </p:nvCxnSpPr>
        <p:spPr>
          <a:xfrm>
            <a:off x="8385048" y="3781044"/>
            <a:ext cx="0" cy="128016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421" name="Connector 15420"/>
          <p:cNvCxnSpPr/>
          <p:nvPr/>
        </p:nvCxnSpPr>
        <p:spPr>
          <a:xfrm>
            <a:off x="8385048" y="3781044"/>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22" name="Rounded Rectangle 15421"/>
          <p:cNvSpPr/>
          <p:nvPr/>
        </p:nvSpPr>
        <p:spPr>
          <a:xfrm>
            <a:off x="8567928" y="3648456"/>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War Room</a:t>
            </a:r>
          </a:p>
        </p:txBody>
      </p:sp>
      <p:cxnSp>
        <p:nvCxnSpPr>
          <p:cNvPr id="15423" name="Connector 15422"/>
          <p:cNvCxnSpPr/>
          <p:nvPr/>
        </p:nvCxnSpPr>
        <p:spPr>
          <a:xfrm>
            <a:off x="8385048" y="4101083"/>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24" name="Rounded Rectangle 15423"/>
          <p:cNvSpPr/>
          <p:nvPr/>
        </p:nvSpPr>
        <p:spPr>
          <a:xfrm>
            <a:off x="8567928" y="3968496"/>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Acquisition intelligence</a:t>
            </a:r>
          </a:p>
        </p:txBody>
      </p:sp>
      <p:cxnSp>
        <p:nvCxnSpPr>
          <p:cNvPr id="15425" name="Connector 15424"/>
          <p:cNvCxnSpPr/>
          <p:nvPr/>
        </p:nvCxnSpPr>
        <p:spPr>
          <a:xfrm>
            <a:off x="8385048" y="4421124"/>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26" name="Rounded Rectangle 15425"/>
          <p:cNvSpPr/>
          <p:nvPr/>
        </p:nvSpPr>
        <p:spPr>
          <a:xfrm>
            <a:off x="8567928" y="4288536"/>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Scenario analysis</a:t>
            </a:r>
          </a:p>
        </p:txBody>
      </p:sp>
      <p:cxnSp>
        <p:nvCxnSpPr>
          <p:cNvPr id="15427" name="Connector 15426"/>
          <p:cNvCxnSpPr/>
          <p:nvPr/>
        </p:nvCxnSpPr>
        <p:spPr>
          <a:xfrm>
            <a:off x="8385048" y="4741164"/>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28" name="Rounded Rectangle 15427"/>
          <p:cNvSpPr/>
          <p:nvPr/>
        </p:nvSpPr>
        <p:spPr>
          <a:xfrm>
            <a:off x="8567928" y="4608576"/>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Create / track interventions</a:t>
            </a:r>
          </a:p>
        </p:txBody>
      </p:sp>
      <p:cxnSp>
        <p:nvCxnSpPr>
          <p:cNvPr id="15429" name="Connector 15428"/>
          <p:cNvCxnSpPr/>
          <p:nvPr/>
        </p:nvCxnSpPr>
        <p:spPr>
          <a:xfrm>
            <a:off x="8385048" y="5061204"/>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30" name="Rounded Rectangle 15429"/>
          <p:cNvSpPr/>
          <p:nvPr/>
        </p:nvSpPr>
        <p:spPr>
          <a:xfrm>
            <a:off x="8567928" y="4928616"/>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Officer Brief</a:t>
            </a:r>
          </a:p>
        </p:txBody>
      </p:sp>
      <p:cxnSp>
        <p:nvCxnSpPr>
          <p:cNvPr id="15431" name="Connector 15430"/>
          <p:cNvCxnSpPr/>
          <p:nvPr/>
        </p:nvCxnSpPr>
        <p:spPr>
          <a:xfrm>
            <a:off x="7607808" y="4421124"/>
            <a:ext cx="77724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32" name="Oval 15431"/>
          <p:cNvSpPr/>
          <p:nvPr/>
        </p:nvSpPr>
        <p:spPr>
          <a:xfrm>
            <a:off x="7132320" y="4082796"/>
            <a:ext cx="457200" cy="457200"/>
          </a:xfrm>
          <a:prstGeom prst="ellips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433" name="Picture 15432" descr="officer_w.png"/>
          <p:cNvPicPr>
            <a:picLocks noChangeAspect="1"/>
          </p:cNvPicPr>
          <p:nvPr/>
        </p:nvPicPr>
        <p:blipFill>
          <a:blip r:embed="rId12"/>
          <a:stretch>
            <a:fillRect/>
          </a:stretch>
        </p:blipFill>
        <p:spPr>
          <a:xfrm>
            <a:off x="7242048" y="4192524"/>
            <a:ext cx="237744" cy="237744"/>
          </a:xfrm>
          <a:prstGeom prst="rect">
            <a:avLst/>
          </a:prstGeom>
        </p:spPr>
      </p:pic>
      <p:sp>
        <p:nvSpPr>
          <p:cNvPr id="15434" name="TextBox 15433"/>
          <p:cNvSpPr txBox="1"/>
          <p:nvPr/>
        </p:nvSpPr>
        <p:spPr>
          <a:xfrm>
            <a:off x="6830568" y="4567428"/>
            <a:ext cx="1060704" cy="329184"/>
          </a:xfrm>
          <a:prstGeom prst="rect">
            <a:avLst/>
          </a:prstGeom>
          <a:noFill/>
        </p:spPr>
        <p:txBody>
          <a:bodyPr wrap="square" lIns="0" tIns="0" rIns="0" bIns="0" anchor="t">
            <a:noAutofit/>
          </a:bodyPr>
          <a:lstStyle/>
          <a:p>
            <a:pPr algn="ctr"/>
            <a:r>
              <a:rPr sz="950" b="1" i="0">
                <a:solidFill>
                  <a:srgbClr val="0B2A4A"/>
                </a:solidFill>
                <a:latin typeface="Times New Roman" pitchFamily="18" charset="0"/>
                <a:cs typeface="Times New Roman" pitchFamily="18" charset="0"/>
              </a:rPr>
              <a:t>DISTRICT OFFICER</a:t>
            </a:r>
          </a:p>
        </p:txBody>
      </p:sp>
      <p:cxnSp>
        <p:nvCxnSpPr>
          <p:cNvPr id="15435" name="Connector 15434"/>
          <p:cNvCxnSpPr/>
          <p:nvPr/>
        </p:nvCxnSpPr>
        <p:spPr>
          <a:xfrm>
            <a:off x="8385048" y="5445251"/>
            <a:ext cx="0" cy="32004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436" name="Connector 15435"/>
          <p:cNvCxnSpPr/>
          <p:nvPr/>
        </p:nvCxnSpPr>
        <p:spPr>
          <a:xfrm>
            <a:off x="8385048" y="5445251"/>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37" name="Rounded Rectangle 15436"/>
          <p:cNvSpPr/>
          <p:nvPr/>
        </p:nvSpPr>
        <p:spPr>
          <a:xfrm>
            <a:off x="8567928" y="5312664"/>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Assigned projects</a:t>
            </a:r>
          </a:p>
        </p:txBody>
      </p:sp>
      <p:cxnSp>
        <p:nvCxnSpPr>
          <p:cNvPr id="15438" name="Connector 15437"/>
          <p:cNvCxnSpPr/>
          <p:nvPr/>
        </p:nvCxnSpPr>
        <p:spPr>
          <a:xfrm>
            <a:off x="8385048" y="5765291"/>
            <a:ext cx="18288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39" name="Rounded Rectangle 15438"/>
          <p:cNvSpPr/>
          <p:nvPr/>
        </p:nvSpPr>
        <p:spPr>
          <a:xfrm>
            <a:off x="8567928" y="5632703"/>
            <a:ext cx="3017520" cy="265176"/>
          </a:xfrm>
          <a:prstGeom prst="roundRect">
            <a:avLst>
              <a:gd name="adj" fmla="val 50000"/>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0" rIns="36576" bIns="0" rtlCol="0" anchor="ctr">
            <a:noAutofit/>
          </a:bodyPr>
          <a:lstStyle/>
          <a:p>
            <a:pPr algn="ctr"/>
            <a:r>
              <a:rPr sz="1050" b="0" i="0">
                <a:solidFill>
                  <a:srgbClr val="1E293B"/>
                </a:solidFill>
                <a:latin typeface="Times New Roman" pitchFamily="18" charset="0"/>
                <a:cs typeface="Times New Roman" pitchFamily="18" charset="0"/>
              </a:rPr>
              <a:t>Authorised project updates</a:t>
            </a:r>
          </a:p>
        </p:txBody>
      </p:sp>
      <p:cxnSp>
        <p:nvCxnSpPr>
          <p:cNvPr id="15440" name="Connector 15439"/>
          <p:cNvCxnSpPr/>
          <p:nvPr/>
        </p:nvCxnSpPr>
        <p:spPr>
          <a:xfrm>
            <a:off x="7607808" y="5605271"/>
            <a:ext cx="777240" cy="0"/>
          </a:xfrm>
          <a:prstGeom prst="line">
            <a:avLst/>
          </a:prstGeom>
          <a:ln w="15875">
            <a:solidFill>
              <a:srgbClr val="64748B"/>
            </a:solidFill>
          </a:ln>
        </p:spPr>
        <p:style>
          <a:lnRef idx="2">
            <a:schemeClr val="accent1"/>
          </a:lnRef>
          <a:fillRef idx="0">
            <a:schemeClr val="accent1"/>
          </a:fillRef>
          <a:effectRef idx="1">
            <a:schemeClr val="accent1"/>
          </a:effectRef>
          <a:fontRef idx="minor">
            <a:schemeClr val="tx1"/>
          </a:fontRef>
        </p:style>
      </p:cxnSp>
      <p:sp>
        <p:nvSpPr>
          <p:cNvPr id="15441" name="Oval 15440"/>
          <p:cNvSpPr/>
          <p:nvPr/>
        </p:nvSpPr>
        <p:spPr>
          <a:xfrm>
            <a:off x="7132320" y="5266943"/>
            <a:ext cx="457200" cy="457200"/>
          </a:xfrm>
          <a:prstGeom prst="ellips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latin typeface="Times New Roman" pitchFamily="18" charset="0"/>
              <a:cs typeface="Times New Roman" pitchFamily="18" charset="0"/>
            </a:endParaRPr>
          </a:p>
        </p:txBody>
      </p:sp>
      <p:pic>
        <p:nvPicPr>
          <p:cNvPr id="15442" name="Picture 15441" descr="agency_w.png"/>
          <p:cNvPicPr>
            <a:picLocks noChangeAspect="1"/>
          </p:cNvPicPr>
          <p:nvPr/>
        </p:nvPicPr>
        <p:blipFill>
          <a:blip r:embed="rId13"/>
          <a:stretch>
            <a:fillRect/>
          </a:stretch>
        </p:blipFill>
        <p:spPr>
          <a:xfrm>
            <a:off x="7242048" y="5376671"/>
            <a:ext cx="237744" cy="237744"/>
          </a:xfrm>
          <a:prstGeom prst="rect">
            <a:avLst/>
          </a:prstGeom>
        </p:spPr>
      </p:pic>
      <p:sp>
        <p:nvSpPr>
          <p:cNvPr id="15443" name="TextBox 15442"/>
          <p:cNvSpPr txBox="1"/>
          <p:nvPr/>
        </p:nvSpPr>
        <p:spPr>
          <a:xfrm>
            <a:off x="6830568" y="5751575"/>
            <a:ext cx="1060704" cy="329184"/>
          </a:xfrm>
          <a:prstGeom prst="rect">
            <a:avLst/>
          </a:prstGeom>
          <a:noFill/>
        </p:spPr>
        <p:txBody>
          <a:bodyPr wrap="square" lIns="0" tIns="0" rIns="0" bIns="0" anchor="t">
            <a:noAutofit/>
          </a:bodyPr>
          <a:lstStyle/>
          <a:p>
            <a:pPr algn="ctr"/>
            <a:r>
              <a:rPr sz="950" b="1" i="0">
                <a:solidFill>
                  <a:srgbClr val="0B2A4A"/>
                </a:solidFill>
                <a:latin typeface="Times New Roman" pitchFamily="18" charset="0"/>
                <a:cs typeface="Times New Roman" pitchFamily="18" charset="0"/>
              </a:rPr>
              <a:t>IMPLEMENTING AGENCY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0" y="6354762"/>
            <a:ext cx="12191999" cy="503238"/>
          </a:xfrm>
          <a:prstGeom prst="rect">
            <a:avLst/>
          </a:prstGeom>
          <a:solidFill>
            <a:srgbClr val="0070C0"/>
          </a:solidFill>
          <a:ln w="9525">
            <a:noFill/>
            <a:miter lim="800000"/>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1627632" y="36576"/>
            <a:ext cx="8092440" cy="1042415"/>
          </a:xfrm>
        </p:spPr>
        <p:txBody>
          <a:bodyPr wrap="square"/>
          <a:lstStyle/>
          <a:p>
            <a:pPr algn="ctr"/>
            <a:r>
              <a:rPr sz="1200" b="1">
                <a:solidFill>
                  <a:srgbClr val="0070C0"/>
                </a:solidFill>
                <a:latin typeface="Arial" panose="020B0604020202020204"/>
              </a:rPr>
              <a:t>TECHNICAL APPROACH</a:t>
            </a:r>
          </a:p>
          <a:p>
            <a:pPr algn="ctr"/>
            <a:r>
              <a:rPr sz="2400" b="1">
                <a:solidFill>
                  <a:srgbClr val="0B2A4A"/>
                </a:solidFill>
                <a:latin typeface="Times New Roman" panose="02020603050405020304"/>
              </a:rPr>
              <a:t>HOW LANDGUARD WORKS</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Idea </a:t>
            </a:r>
            <a:r>
              <a:rPr lang="en-US" dirty="0" smtClean="0">
                <a:solidFill>
                  <a:schemeClr val="bg1"/>
                </a:solidFill>
              </a:rPr>
              <a:t>submission</a:t>
            </a:r>
            <a:endParaRPr lang="en-US" dirty="0">
              <a:solidFill>
                <a:schemeClr val="bg1"/>
              </a:solidFill>
            </a:endParaRPr>
          </a:p>
        </p:txBody>
      </p:sp>
      <p:sp>
        <p:nvSpPr>
          <p:cNvPr id="11" name="Oval 10" descr="Your startup LOGO"/>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18288" rIns="18288" rtlCol="0" anchor="ctr"/>
          <a:lstStyle/>
          <a:p>
            <a:pPr algn="ctr"/>
            <a:r>
              <a:rPr sz="1300" b="1">
                <a:solidFill>
                  <a:srgbClr val="0B2A4A"/>
                </a:solidFill>
                <a:latin typeface="Arial" panose="020B0604020202020204"/>
              </a:rPr>
              <a:t>Null Pointers</a:t>
            </a:r>
            <a:endParaRPr lang="en-IN" dirty="0"/>
          </a:p>
        </p:txBody>
      </p:sp>
      <p:pic>
        <p:nvPicPr>
          <p:cNvPr id="12" name="Picture 1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481328"/>
            <a:ext cx="5623560" cy="2340864"/>
          </a:xfrm>
          <a:prstGeom prst="rect">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1" name="Rectangle 17410"/>
          <p:cNvSpPr/>
          <p:nvPr/>
        </p:nvSpPr>
        <p:spPr>
          <a:xfrm>
            <a:off x="365760" y="1188720"/>
            <a:ext cx="5623560" cy="292608"/>
          </a:xfrm>
          <a:prstGeom prst="rect">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109728" tIns="0" bIns="0" rtlCol="0" anchor="ctr">
            <a:noAutofit/>
          </a:bodyPr>
          <a:lstStyle/>
          <a:p>
            <a:pPr algn="l"/>
            <a:r>
              <a:rPr sz="1200" b="1" i="0">
                <a:solidFill>
                  <a:srgbClr val="FFFFFF"/>
                </a:solidFill>
                <a:latin typeface="Arial" panose="020B0604020202020204"/>
              </a:rPr>
              <a:t>LAND-ACQUISITION INTELLIGENCE</a:t>
            </a:r>
          </a:p>
        </p:txBody>
      </p:sp>
      <p:sp>
        <p:nvSpPr>
          <p:cNvPr id="17412" name="TextBox 17411"/>
          <p:cNvSpPr txBox="1"/>
          <p:nvPr/>
        </p:nvSpPr>
        <p:spPr>
          <a:xfrm>
            <a:off x="3794760" y="1188720"/>
            <a:ext cx="2103120" cy="292608"/>
          </a:xfrm>
          <a:prstGeom prst="rect">
            <a:avLst/>
          </a:prstGeom>
          <a:noFill/>
        </p:spPr>
        <p:txBody>
          <a:bodyPr wrap="square" lIns="18288" tIns="18288" rIns="18288" bIns="18288" anchor="ctr">
            <a:noAutofit/>
          </a:bodyPr>
          <a:lstStyle/>
          <a:p>
            <a:pPr algn="r"/>
            <a:r>
              <a:rPr sz="1000" b="0" i="1">
                <a:solidFill>
                  <a:srgbClr val="FFFFFF"/>
                </a:solidFill>
                <a:latin typeface="Arial" panose="020B0604020202020204"/>
              </a:rPr>
              <a:t>rule-based · transparent</a:t>
            </a:r>
          </a:p>
        </p:txBody>
      </p:sp>
      <p:sp>
        <p:nvSpPr>
          <p:cNvPr id="17413" name="Rectangle 17412"/>
          <p:cNvSpPr/>
          <p:nvPr/>
        </p:nvSpPr>
        <p:spPr>
          <a:xfrm>
            <a:off x="6199632" y="1481328"/>
            <a:ext cx="5623560" cy="2340864"/>
          </a:xfrm>
          <a:prstGeom prst="rect">
            <a:avLst/>
          </a:prstGeom>
          <a:solidFill>
            <a:srgbClr val="E3F3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4" name="Rectangle 17413"/>
          <p:cNvSpPr/>
          <p:nvPr/>
        </p:nvSpPr>
        <p:spPr>
          <a:xfrm>
            <a:off x="6199632" y="1188720"/>
            <a:ext cx="5623560" cy="292608"/>
          </a:xfrm>
          <a:prstGeom prst="rect">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wrap="square" lIns="109728" tIns="0" bIns="0" rtlCol="0" anchor="ctr">
            <a:noAutofit/>
          </a:bodyPr>
          <a:lstStyle/>
          <a:p>
            <a:pPr algn="l"/>
            <a:r>
              <a:rPr sz="1200" b="1" i="0">
                <a:solidFill>
                  <a:srgbClr val="FFFFFF"/>
                </a:solidFill>
                <a:latin typeface="Arial" panose="020B0604020202020204"/>
              </a:rPr>
              <a:t>PAIMANA ML EVIDENCE</a:t>
            </a:r>
          </a:p>
        </p:txBody>
      </p:sp>
      <p:sp>
        <p:nvSpPr>
          <p:cNvPr id="17415" name="TextBox 17414"/>
          <p:cNvSpPr txBox="1"/>
          <p:nvPr/>
        </p:nvSpPr>
        <p:spPr>
          <a:xfrm>
            <a:off x="9628632" y="1188720"/>
            <a:ext cx="2103120" cy="292608"/>
          </a:xfrm>
          <a:prstGeom prst="rect">
            <a:avLst/>
          </a:prstGeom>
          <a:noFill/>
        </p:spPr>
        <p:txBody>
          <a:bodyPr wrap="square" lIns="18288" tIns="18288" rIns="18288" bIns="18288" anchor="ctr">
            <a:noAutofit/>
          </a:bodyPr>
          <a:lstStyle/>
          <a:p>
            <a:pPr algn="r"/>
            <a:r>
              <a:rPr sz="1000" b="0" i="1">
                <a:solidFill>
                  <a:srgbClr val="FFFFFF"/>
                </a:solidFill>
                <a:latin typeface="Arial" panose="020B0604020202020204"/>
              </a:rPr>
              <a:t>independent ML signal</a:t>
            </a:r>
          </a:p>
        </p:txBody>
      </p:sp>
      <p:sp>
        <p:nvSpPr>
          <p:cNvPr id="17416" name="Rounded Rectangle 17415"/>
          <p:cNvSpPr/>
          <p:nvPr/>
        </p:nvSpPr>
        <p:spPr>
          <a:xfrm>
            <a:off x="502920" y="1572768"/>
            <a:ext cx="2487168" cy="1883664"/>
          </a:xfrm>
          <a:prstGeom prst="roundRect">
            <a:avLst>
              <a:gd name="adj" fmla="val 3883"/>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7" name="TextBox 17416"/>
          <p:cNvSpPr txBox="1"/>
          <p:nvPr/>
        </p:nvSpPr>
        <p:spPr>
          <a:xfrm>
            <a:off x="566928" y="1600200"/>
            <a:ext cx="2377440" cy="228600"/>
          </a:xfrm>
          <a:prstGeom prst="rect">
            <a:avLst/>
          </a:prstGeom>
          <a:noFill/>
        </p:spPr>
        <p:txBody>
          <a:bodyPr wrap="square" lIns="18288" tIns="18288" rIns="18288" bIns="18288" anchor="ctr">
            <a:noAutofit/>
          </a:bodyPr>
          <a:lstStyle/>
          <a:p>
            <a:pPr algn="l"/>
            <a:r>
              <a:rPr sz="1050" b="1" i="0">
                <a:solidFill>
                  <a:srgbClr val="1F4E8C"/>
                </a:solidFill>
                <a:latin typeface="Arial" panose="020B0604020202020204"/>
              </a:rPr>
              <a:t>Recorded indicators</a:t>
            </a:r>
          </a:p>
        </p:txBody>
      </p:sp>
      <p:sp>
        <p:nvSpPr>
          <p:cNvPr id="17418" name="Rounded Rectangle 17417"/>
          <p:cNvSpPr/>
          <p:nvPr/>
        </p:nvSpPr>
        <p:spPr>
          <a:xfrm>
            <a:off x="576072" y="1856231"/>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Disputes</a:t>
            </a:r>
          </a:p>
        </p:txBody>
      </p:sp>
      <p:sp>
        <p:nvSpPr>
          <p:cNvPr id="17419" name="Rounded Rectangle 17418"/>
          <p:cNvSpPr/>
          <p:nvPr/>
        </p:nvSpPr>
        <p:spPr>
          <a:xfrm>
            <a:off x="1783080" y="1856231"/>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Approvals</a:t>
            </a:r>
          </a:p>
        </p:txBody>
      </p:sp>
      <p:sp>
        <p:nvSpPr>
          <p:cNvPr id="17420" name="Rounded Rectangle 17419"/>
          <p:cNvSpPr/>
          <p:nvPr/>
        </p:nvSpPr>
        <p:spPr>
          <a:xfrm>
            <a:off x="576072" y="2258568"/>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Compensation</a:t>
            </a:r>
          </a:p>
        </p:txBody>
      </p:sp>
      <p:sp>
        <p:nvSpPr>
          <p:cNvPr id="17421" name="Rounded Rectangle 17420"/>
          <p:cNvSpPr/>
          <p:nvPr/>
        </p:nvSpPr>
        <p:spPr>
          <a:xfrm>
            <a:off x="1783080" y="2258568"/>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Possession</a:t>
            </a:r>
          </a:p>
        </p:txBody>
      </p:sp>
      <p:sp>
        <p:nvSpPr>
          <p:cNvPr id="17422" name="Rounded Rectangle 17421"/>
          <p:cNvSpPr/>
          <p:nvPr/>
        </p:nvSpPr>
        <p:spPr>
          <a:xfrm>
            <a:off x="576072" y="2660903"/>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R&amp;R</a:t>
            </a:r>
          </a:p>
        </p:txBody>
      </p:sp>
      <p:sp>
        <p:nvSpPr>
          <p:cNvPr id="17423" name="Rounded Rectangle 17422"/>
          <p:cNvSpPr/>
          <p:nvPr/>
        </p:nvSpPr>
        <p:spPr>
          <a:xfrm>
            <a:off x="1783080" y="2660903"/>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Response time</a:t>
            </a:r>
          </a:p>
        </p:txBody>
      </p:sp>
      <p:sp>
        <p:nvSpPr>
          <p:cNvPr id="17424" name="Rounded Rectangle 17423"/>
          <p:cNvSpPr/>
          <p:nvPr/>
        </p:nvSpPr>
        <p:spPr>
          <a:xfrm>
            <a:off x="576072" y="3063239"/>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Elapsed time</a:t>
            </a:r>
          </a:p>
        </p:txBody>
      </p:sp>
      <p:sp>
        <p:nvSpPr>
          <p:cNvPr id="17425" name="Rounded Rectangle 17424"/>
          <p:cNvSpPr/>
          <p:nvPr/>
        </p:nvSpPr>
        <p:spPr>
          <a:xfrm>
            <a:off x="1783080" y="3063239"/>
            <a:ext cx="1152144" cy="338328"/>
          </a:xfrm>
          <a:prstGeom prst="roundRect">
            <a:avLst>
              <a:gd name="adj" fmla="val 16216"/>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Land / families</a:t>
            </a:r>
          </a:p>
        </p:txBody>
      </p:sp>
      <p:sp>
        <p:nvSpPr>
          <p:cNvPr id="17426" name="Rounded Rectangle 17425"/>
          <p:cNvSpPr/>
          <p:nvPr/>
        </p:nvSpPr>
        <p:spPr>
          <a:xfrm>
            <a:off x="3337560" y="1609344"/>
            <a:ext cx="2514600" cy="548640"/>
          </a:xfrm>
          <a:prstGeom prst="roundRect">
            <a:avLst>
              <a:gd name="adj" fmla="val 13333"/>
            </a:avLst>
          </a:prstGeom>
          <a:solidFill>
            <a:srgbClr val="FFFFFF"/>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0B2A4A"/>
                </a:solidFill>
                <a:latin typeface="Arial" panose="020B0604020202020204"/>
              </a:rPr>
              <a:t>Friction Index</a:t>
            </a:r>
          </a:p>
          <a:p>
            <a:pPr algn="ctr"/>
            <a:r>
              <a:rPr sz="1000" b="0" i="1">
                <a:solidFill>
                  <a:srgbClr val="475569"/>
                </a:solidFill>
                <a:latin typeface="Arial" panose="020B0604020202020204"/>
              </a:rPr>
              <a:t>how blocked it is now</a:t>
            </a:r>
          </a:p>
        </p:txBody>
      </p:sp>
      <p:sp>
        <p:nvSpPr>
          <p:cNvPr id="17427" name="Rounded Rectangle 17426"/>
          <p:cNvSpPr/>
          <p:nvPr/>
        </p:nvSpPr>
        <p:spPr>
          <a:xfrm>
            <a:off x="3337560" y="2377440"/>
            <a:ext cx="2514600" cy="548640"/>
          </a:xfrm>
          <a:prstGeom prst="roundRect">
            <a:avLst>
              <a:gd name="adj" fmla="val 13333"/>
            </a:avLst>
          </a:prstGeom>
          <a:solidFill>
            <a:srgbClr val="FFFFFF"/>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0B2A4A"/>
                </a:solidFill>
                <a:latin typeface="Arial" panose="020B0604020202020204"/>
              </a:rPr>
              <a:t>Readiness</a:t>
            </a:r>
          </a:p>
          <a:p>
            <a:pPr algn="ctr"/>
            <a:r>
              <a:rPr sz="1000" b="0" i="1">
                <a:solidFill>
                  <a:srgbClr val="475569"/>
                </a:solidFill>
                <a:latin typeface="Arial" panose="020B0604020202020204"/>
              </a:rPr>
              <a:t>progress toward handover</a:t>
            </a:r>
          </a:p>
        </p:txBody>
      </p:sp>
      <p:cxnSp>
        <p:nvCxnSpPr>
          <p:cNvPr id="17428" name="Connector 17427"/>
          <p:cNvCxnSpPr>
            <a:stCxn id="17426" idx="2"/>
            <a:endCxn id="17427" idx="0"/>
          </p:cNvCxnSpPr>
          <p:nvPr/>
        </p:nvCxnSpPr>
        <p:spPr>
          <a:xfrm flipH="1">
            <a:off x="4594860" y="2157984"/>
            <a:ext cx="0" cy="219456"/>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9" name="Rounded Rectangle 17428"/>
          <p:cNvSpPr/>
          <p:nvPr/>
        </p:nvSpPr>
        <p:spPr>
          <a:xfrm>
            <a:off x="3337560" y="3145536"/>
            <a:ext cx="2514600" cy="548640"/>
          </a:xfrm>
          <a:prstGeom prst="roundRect">
            <a:avLst>
              <a:gd name="adj" fmla="val 13333"/>
            </a:avLst>
          </a:prstGeom>
          <a:solidFill>
            <a:srgbClr val="FFFFFF"/>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0B2A4A"/>
                </a:solidFill>
                <a:latin typeface="Arial" panose="020B0604020202020204"/>
              </a:rPr>
              <a:t>Acquisition Delay Risk</a:t>
            </a:r>
          </a:p>
          <a:p>
            <a:pPr algn="ctr"/>
            <a:r>
              <a:rPr sz="1000" b="0" i="1">
                <a:solidFill>
                  <a:srgbClr val="475569"/>
                </a:solidFill>
                <a:latin typeface="Arial" panose="020B0604020202020204"/>
              </a:rPr>
              <a:t>index score — not a probability</a:t>
            </a:r>
          </a:p>
        </p:txBody>
      </p:sp>
      <p:cxnSp>
        <p:nvCxnSpPr>
          <p:cNvPr id="17430" name="Connector 17429"/>
          <p:cNvCxnSpPr>
            <a:stCxn id="17427" idx="2"/>
            <a:endCxn id="17429" idx="0"/>
          </p:cNvCxnSpPr>
          <p:nvPr/>
        </p:nvCxnSpPr>
        <p:spPr>
          <a:xfrm flipH="1">
            <a:off x="4594860" y="2926080"/>
            <a:ext cx="0" cy="219456"/>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2990088" y="1883664"/>
            <a:ext cx="347472" cy="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6336792" y="1572768"/>
            <a:ext cx="2395728" cy="1883664"/>
          </a:xfrm>
          <a:prstGeom prst="roundRect">
            <a:avLst>
              <a:gd name="adj" fmla="val 3883"/>
            </a:avLst>
          </a:prstGeom>
          <a:solidFill>
            <a:srgbClr val="FFFFFF"/>
          </a:solidFill>
          <a:ln w="12700">
            <a:solidFill>
              <a:srgbClr val="0E7C86"/>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33" name="Oval 17432"/>
          <p:cNvSpPr/>
          <p:nvPr/>
        </p:nvSpPr>
        <p:spPr>
          <a:xfrm>
            <a:off x="7306056" y="1993392"/>
            <a:ext cx="457200" cy="457200"/>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34" name="Picture 17433" descr="db_w.png"/>
          <p:cNvPicPr>
            <a:picLocks noChangeAspect="1"/>
          </p:cNvPicPr>
          <p:nvPr/>
        </p:nvPicPr>
        <p:blipFill>
          <a:blip r:embed="rId4"/>
          <a:stretch>
            <a:fillRect/>
          </a:stretch>
        </p:blipFill>
        <p:spPr>
          <a:xfrm>
            <a:off x="7415783" y="2103120"/>
            <a:ext cx="237744" cy="237744"/>
          </a:xfrm>
          <a:prstGeom prst="rect">
            <a:avLst/>
          </a:prstGeom>
        </p:spPr>
      </p:pic>
      <p:sp>
        <p:nvSpPr>
          <p:cNvPr id="17435" name="TextBox 17434"/>
          <p:cNvSpPr txBox="1"/>
          <p:nvPr/>
        </p:nvSpPr>
        <p:spPr>
          <a:xfrm>
            <a:off x="6400800" y="2542032"/>
            <a:ext cx="2267712" cy="566928"/>
          </a:xfrm>
          <a:prstGeom prst="rect">
            <a:avLst/>
          </a:prstGeom>
          <a:noFill/>
        </p:spPr>
        <p:txBody>
          <a:bodyPr wrap="square" lIns="18288" tIns="18288" rIns="18288" bIns="18288" anchor="t">
            <a:noAutofit/>
          </a:bodyPr>
          <a:lstStyle/>
          <a:p>
            <a:pPr algn="ctr"/>
            <a:r>
              <a:rPr sz="1150" b="1" i="0">
                <a:solidFill>
                  <a:srgbClr val="0B2A4A"/>
                </a:solidFill>
                <a:latin typeface="Arial" panose="020B0604020202020204"/>
              </a:rPr>
              <a:t>Official monthly MoSPI PAIMANA history</a:t>
            </a:r>
          </a:p>
        </p:txBody>
      </p:sp>
      <p:sp>
        <p:nvSpPr>
          <p:cNvPr id="17436" name="TextBox 17435"/>
          <p:cNvSpPr txBox="1"/>
          <p:nvPr/>
        </p:nvSpPr>
        <p:spPr>
          <a:xfrm>
            <a:off x="6400800" y="3090672"/>
            <a:ext cx="2267712" cy="274320"/>
          </a:xfrm>
          <a:prstGeom prst="rect">
            <a:avLst/>
          </a:prstGeom>
          <a:noFill/>
        </p:spPr>
        <p:txBody>
          <a:bodyPr wrap="square" lIns="18288" tIns="18288" rIns="18288" bIns="18288" anchor="t">
            <a:noAutofit/>
          </a:bodyPr>
          <a:lstStyle/>
          <a:p>
            <a:pPr algn="ctr"/>
            <a:r>
              <a:rPr sz="1000" b="0" i="1">
                <a:solidFill>
                  <a:srgbClr val="475569"/>
                </a:solidFill>
                <a:latin typeface="Arial" panose="020B0604020202020204"/>
              </a:rPr>
              <a:t>real longitudinal project data</a:t>
            </a:r>
          </a:p>
        </p:txBody>
      </p:sp>
      <p:sp>
        <p:nvSpPr>
          <p:cNvPr id="17437" name="Rounded Rectangle 17436"/>
          <p:cNvSpPr/>
          <p:nvPr/>
        </p:nvSpPr>
        <p:spPr>
          <a:xfrm>
            <a:off x="9098280" y="1609344"/>
            <a:ext cx="2587752" cy="384048"/>
          </a:xfrm>
          <a:prstGeom prst="roundRect">
            <a:avLst>
              <a:gd name="adj" fmla="val 19047"/>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Feature pipeline</a:t>
            </a:r>
          </a:p>
        </p:txBody>
      </p:sp>
      <p:sp>
        <p:nvSpPr>
          <p:cNvPr id="17438" name="Rounded Rectangle 17437"/>
          <p:cNvSpPr/>
          <p:nvPr/>
        </p:nvSpPr>
        <p:spPr>
          <a:xfrm>
            <a:off x="9098280" y="2157984"/>
            <a:ext cx="2587752" cy="384048"/>
          </a:xfrm>
          <a:prstGeom prst="roundRect">
            <a:avLst>
              <a:gd name="adj" fmla="val 19047"/>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Random Forest</a:t>
            </a:r>
          </a:p>
        </p:txBody>
      </p:sp>
      <p:cxnSp>
        <p:nvCxnSpPr>
          <p:cNvPr id="17439" name="Connector 17438"/>
          <p:cNvCxnSpPr>
            <a:stCxn id="17437" idx="2"/>
            <a:endCxn id="17438" idx="0"/>
          </p:cNvCxnSpPr>
          <p:nvPr/>
        </p:nvCxnSpPr>
        <p:spPr>
          <a:xfrm flipH="1">
            <a:off x="10392156" y="1993392"/>
            <a:ext cx="0" cy="164592"/>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40" name="Rounded Rectangle 17439"/>
          <p:cNvSpPr/>
          <p:nvPr/>
        </p:nvSpPr>
        <p:spPr>
          <a:xfrm>
            <a:off x="9098280" y="2706624"/>
            <a:ext cx="2587752" cy="384048"/>
          </a:xfrm>
          <a:prstGeom prst="roundRect">
            <a:avLst>
              <a:gd name="adj" fmla="val 19047"/>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3-Month Schedule Signal</a:t>
            </a:r>
          </a:p>
        </p:txBody>
      </p:sp>
      <p:cxnSp>
        <p:nvCxnSpPr>
          <p:cNvPr id="17441" name="Connector 17440"/>
          <p:cNvCxnSpPr>
            <a:stCxn id="17438" idx="2"/>
            <a:endCxn id="17440" idx="0"/>
          </p:cNvCxnSpPr>
          <p:nvPr/>
        </p:nvCxnSpPr>
        <p:spPr>
          <a:xfrm flipH="1">
            <a:off x="10392156" y="2542032"/>
            <a:ext cx="0" cy="164592"/>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42" name="Rounded Rectangle 17441"/>
          <p:cNvSpPr/>
          <p:nvPr/>
        </p:nvSpPr>
        <p:spPr>
          <a:xfrm>
            <a:off x="9098280" y="3255263"/>
            <a:ext cx="2587752" cy="384048"/>
          </a:xfrm>
          <a:prstGeom prst="roundRect">
            <a:avLst>
              <a:gd name="adj" fmla="val 19047"/>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SHAP + Historical Analogues</a:t>
            </a:r>
          </a:p>
        </p:txBody>
      </p:sp>
      <p:cxnSp>
        <p:nvCxnSpPr>
          <p:cNvPr id="17443" name="Connector 17442"/>
          <p:cNvCxnSpPr>
            <a:stCxn id="17440" idx="2"/>
            <a:endCxn id="17442" idx="0"/>
          </p:cNvCxnSpPr>
          <p:nvPr/>
        </p:nvCxnSpPr>
        <p:spPr>
          <a:xfrm flipH="1">
            <a:off x="10392156" y="3090672"/>
            <a:ext cx="0" cy="164591"/>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444" name="Connector 17443"/>
          <p:cNvCxnSpPr/>
          <p:nvPr/>
        </p:nvCxnSpPr>
        <p:spPr>
          <a:xfrm>
            <a:off x="8732520" y="1801368"/>
            <a:ext cx="365760" cy="0"/>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445" name="Connector 17444"/>
          <p:cNvCxnSpPr/>
          <p:nvPr/>
        </p:nvCxnSpPr>
        <p:spPr>
          <a:xfrm>
            <a:off x="4594860" y="3694176"/>
            <a:ext cx="0" cy="365760"/>
          </a:xfrm>
          <a:prstGeom prst="line">
            <a:avLst/>
          </a:prstGeom>
          <a:ln w="25400">
            <a:solidFill>
              <a:srgbClr val="0B2A4A"/>
            </a:solidFill>
          </a:ln>
        </p:spPr>
        <p:style>
          <a:lnRef idx="2">
            <a:schemeClr val="accent1"/>
          </a:lnRef>
          <a:fillRef idx="0">
            <a:schemeClr val="accent1"/>
          </a:fillRef>
          <a:effectRef idx="1">
            <a:schemeClr val="accent1"/>
          </a:effectRef>
          <a:fontRef idx="minor">
            <a:schemeClr val="tx1"/>
          </a:fontRef>
        </p:style>
      </p:cxnSp>
      <p:cxnSp>
        <p:nvCxnSpPr>
          <p:cNvPr id="17446" name="Connector 17445"/>
          <p:cNvCxnSpPr/>
          <p:nvPr/>
        </p:nvCxnSpPr>
        <p:spPr>
          <a:xfrm>
            <a:off x="10392156" y="3639312"/>
            <a:ext cx="0" cy="420624"/>
          </a:xfrm>
          <a:prstGeom prst="line">
            <a:avLst/>
          </a:prstGeom>
          <a:ln w="25400">
            <a:solidFill>
              <a:srgbClr val="0B2A4A"/>
            </a:solidFill>
          </a:ln>
        </p:spPr>
        <p:style>
          <a:lnRef idx="2">
            <a:schemeClr val="accent1"/>
          </a:lnRef>
          <a:fillRef idx="0">
            <a:schemeClr val="accent1"/>
          </a:fillRef>
          <a:effectRef idx="1">
            <a:schemeClr val="accent1"/>
          </a:effectRef>
          <a:fontRef idx="minor">
            <a:schemeClr val="tx1"/>
          </a:fontRef>
        </p:style>
      </p:cxnSp>
      <p:cxnSp>
        <p:nvCxnSpPr>
          <p:cNvPr id="17447" name="Connector 17446"/>
          <p:cNvCxnSpPr/>
          <p:nvPr/>
        </p:nvCxnSpPr>
        <p:spPr>
          <a:xfrm flipH="1">
            <a:off x="1920240" y="4059936"/>
            <a:ext cx="8471916" cy="0"/>
          </a:xfrm>
          <a:prstGeom prst="line">
            <a:avLst/>
          </a:prstGeom>
          <a:ln w="25400">
            <a:solidFill>
              <a:srgbClr val="0B2A4A"/>
            </a:solidFill>
          </a:ln>
        </p:spPr>
        <p:style>
          <a:lnRef idx="2">
            <a:schemeClr val="accent1"/>
          </a:lnRef>
          <a:fillRef idx="0">
            <a:schemeClr val="accent1"/>
          </a:fillRef>
          <a:effectRef idx="1">
            <a:schemeClr val="accent1"/>
          </a:effectRef>
          <a:fontRef idx="minor">
            <a:schemeClr val="tx1"/>
          </a:fontRef>
        </p:style>
      </p:cxnSp>
      <p:cxnSp>
        <p:nvCxnSpPr>
          <p:cNvPr id="17448" name="Connector 17447"/>
          <p:cNvCxnSpPr/>
          <p:nvPr/>
        </p:nvCxnSpPr>
        <p:spPr>
          <a:xfrm>
            <a:off x="1920240" y="4059936"/>
            <a:ext cx="0" cy="256032"/>
          </a:xfrm>
          <a:prstGeom prst="line">
            <a:avLst/>
          </a:prstGeom>
          <a:ln w="25400">
            <a:solidFill>
              <a:srgbClr val="0B2A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49" name="TextBox 17448"/>
          <p:cNvSpPr txBox="1"/>
          <p:nvPr/>
        </p:nvSpPr>
        <p:spPr>
          <a:xfrm>
            <a:off x="4681728" y="4087368"/>
            <a:ext cx="2103120" cy="219456"/>
          </a:xfrm>
          <a:prstGeom prst="rect">
            <a:avLst/>
          </a:prstGeom>
          <a:noFill/>
        </p:spPr>
        <p:txBody>
          <a:bodyPr wrap="square" lIns="18288" tIns="18288" rIns="18288" bIns="18288" anchor="ctr">
            <a:noAutofit/>
          </a:bodyPr>
          <a:lstStyle/>
          <a:p>
            <a:pPr algn="l"/>
            <a:r>
              <a:rPr sz="1000" b="0" i="1">
                <a:solidFill>
                  <a:srgbClr val="1F4E8C"/>
                </a:solidFill>
                <a:latin typeface="Arial" panose="020B0604020202020204"/>
              </a:rPr>
              <a:t>sets base priority</a:t>
            </a:r>
          </a:p>
        </p:txBody>
      </p:sp>
      <p:sp>
        <p:nvSpPr>
          <p:cNvPr id="17450" name="TextBox 17449"/>
          <p:cNvSpPr txBox="1"/>
          <p:nvPr/>
        </p:nvSpPr>
        <p:spPr>
          <a:xfrm>
            <a:off x="7863840" y="4087368"/>
            <a:ext cx="2423160" cy="219456"/>
          </a:xfrm>
          <a:prstGeom prst="rect">
            <a:avLst/>
          </a:prstGeom>
          <a:noFill/>
        </p:spPr>
        <p:txBody>
          <a:bodyPr wrap="square" lIns="18288" tIns="18288" rIns="18288" bIns="18288" anchor="ctr">
            <a:noAutofit/>
          </a:bodyPr>
          <a:lstStyle/>
          <a:p>
            <a:pPr algn="r"/>
            <a:r>
              <a:rPr sz="1000" b="0" i="1">
                <a:solidFill>
                  <a:srgbClr val="0E7C86"/>
                </a:solidFill>
                <a:latin typeface="Arial" panose="020B0604020202020204"/>
              </a:rPr>
              <a:t>PAIMANA signal may escalate</a:t>
            </a:r>
          </a:p>
        </p:txBody>
      </p:sp>
      <p:sp>
        <p:nvSpPr>
          <p:cNvPr id="17451" name="Intervention Priority"/>
          <p:cNvSpPr/>
          <p:nvPr/>
        </p:nvSpPr>
        <p:spPr>
          <a:xfrm>
            <a:off x="365760" y="4315968"/>
            <a:ext cx="3108960" cy="621792"/>
          </a:xfrm>
          <a:prstGeom prst="roundRect">
            <a:avLst>
              <a:gd name="adj" fmla="val 14705"/>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300" b="1" i="0">
                <a:solidFill>
                  <a:srgbClr val="FFFFFF"/>
                </a:solidFill>
                <a:latin typeface="Arial" panose="020B0604020202020204"/>
              </a:rPr>
              <a:t>INTERVENTION PRIORITY</a:t>
            </a:r>
          </a:p>
          <a:p>
            <a:pPr algn="ctr"/>
            <a:r>
              <a:rPr sz="1000" b="0" i="1">
                <a:solidFill>
                  <a:srgbClr val="BFD4EA"/>
                </a:solidFill>
                <a:latin typeface="Arial" panose="020B0604020202020204"/>
              </a:rPr>
              <a:t>administrative prioritisation</a:t>
            </a:r>
          </a:p>
        </p:txBody>
      </p:sp>
      <p:sp>
        <p:nvSpPr>
          <p:cNvPr id="17452" name="Rounded Rectangle 17451"/>
          <p:cNvSpPr/>
          <p:nvPr/>
        </p:nvSpPr>
        <p:spPr>
          <a:xfrm>
            <a:off x="3675887" y="4315968"/>
            <a:ext cx="1188720" cy="621792"/>
          </a:xfrm>
          <a:prstGeom prst="roundRect">
            <a:avLst>
              <a:gd name="adj" fmla="val 11764"/>
            </a:avLst>
          </a:prstGeom>
          <a:solidFill>
            <a:srgbClr val="E6EEF8"/>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18288" rIns="36576" bIns="18288" rtlCol="0" anchor="ctr">
            <a:noAutofit/>
          </a:bodyPr>
          <a:lstStyle/>
          <a:p>
            <a:pPr algn="ctr"/>
            <a:r>
              <a:rPr sz="1050" b="1" i="0">
                <a:solidFill>
                  <a:srgbClr val="0B2A4A"/>
                </a:solidFill>
                <a:latin typeface="Arial" panose="020B0604020202020204"/>
              </a:rPr>
              <a:t>War Room / Predictive GIS</a:t>
            </a:r>
          </a:p>
        </p:txBody>
      </p:sp>
      <p:sp>
        <p:nvSpPr>
          <p:cNvPr id="17453" name="Rounded Rectangle 17452"/>
          <p:cNvSpPr/>
          <p:nvPr/>
        </p:nvSpPr>
        <p:spPr>
          <a:xfrm>
            <a:off x="5065775" y="4315968"/>
            <a:ext cx="1188720" cy="621792"/>
          </a:xfrm>
          <a:prstGeom prst="roundRect">
            <a:avLst>
              <a:gd name="adj" fmla="val 11764"/>
            </a:avLst>
          </a:prstGeom>
          <a:solidFill>
            <a:srgbClr val="E6EEF8"/>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18288" rIns="36576" bIns="18288" rtlCol="0" anchor="ctr">
            <a:noAutofit/>
          </a:bodyPr>
          <a:lstStyle/>
          <a:p>
            <a:pPr algn="ctr"/>
            <a:r>
              <a:rPr sz="1050" b="1" i="0">
                <a:solidFill>
                  <a:srgbClr val="0B2A4A"/>
                </a:solidFill>
                <a:latin typeface="Arial" panose="020B0604020202020204"/>
              </a:rPr>
              <a:t>Process Twin / Delay Cascade</a:t>
            </a:r>
          </a:p>
        </p:txBody>
      </p:sp>
      <p:cxnSp>
        <p:nvCxnSpPr>
          <p:cNvPr id="17454" name="Connector 17453"/>
          <p:cNvCxnSpPr>
            <a:stCxn id="17452" idx="3"/>
            <a:endCxn id="17453" idx="1"/>
          </p:cNvCxnSpPr>
          <p:nvPr/>
        </p:nvCxnSpPr>
        <p:spPr>
          <a:xfrm flipV="1">
            <a:off x="4864607" y="4626864"/>
            <a:ext cx="201168" cy="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6455664" y="4315968"/>
            <a:ext cx="1188720" cy="621792"/>
          </a:xfrm>
          <a:prstGeom prst="roundRect">
            <a:avLst>
              <a:gd name="adj" fmla="val 11764"/>
            </a:avLst>
          </a:prstGeom>
          <a:solidFill>
            <a:srgbClr val="E6EEF8"/>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18288" rIns="36576" bIns="18288" rtlCol="0" anchor="ctr">
            <a:noAutofit/>
          </a:bodyPr>
          <a:lstStyle/>
          <a:p>
            <a:pPr algn="ctr"/>
            <a:r>
              <a:rPr sz="1050" b="1" i="0">
                <a:solidFill>
                  <a:srgbClr val="0B2A4A"/>
                </a:solidFill>
                <a:latin typeface="Arial" panose="020B0604020202020204"/>
              </a:rPr>
              <a:t>Recommended Review</a:t>
            </a:r>
          </a:p>
        </p:txBody>
      </p:sp>
      <p:cxnSp>
        <p:nvCxnSpPr>
          <p:cNvPr id="17456" name="Connector 17455"/>
          <p:cNvCxnSpPr>
            <a:stCxn id="17453" idx="3"/>
            <a:endCxn id="17455" idx="1"/>
          </p:cNvCxnSpPr>
          <p:nvPr/>
        </p:nvCxnSpPr>
        <p:spPr>
          <a:xfrm flipV="1">
            <a:off x="6254495" y="4626864"/>
            <a:ext cx="201169" cy="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7845552" y="4315968"/>
            <a:ext cx="1188720" cy="621792"/>
          </a:xfrm>
          <a:prstGeom prst="roundRect">
            <a:avLst>
              <a:gd name="adj" fmla="val 11764"/>
            </a:avLst>
          </a:prstGeom>
          <a:solidFill>
            <a:srgbClr val="E6EEF8"/>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18288" rIns="36576" bIns="18288" rtlCol="0" anchor="ctr">
            <a:noAutofit/>
          </a:bodyPr>
          <a:lstStyle/>
          <a:p>
            <a:pPr algn="ctr"/>
            <a:r>
              <a:rPr sz="1050" b="1" i="0">
                <a:solidFill>
                  <a:srgbClr val="0B2A4A"/>
                </a:solidFill>
                <a:latin typeface="Arial" panose="020B0604020202020204"/>
              </a:rPr>
              <a:t>Intervention Ledger</a:t>
            </a:r>
          </a:p>
        </p:txBody>
      </p:sp>
      <p:cxnSp>
        <p:nvCxnSpPr>
          <p:cNvPr id="17458" name="Connector 17457"/>
          <p:cNvCxnSpPr>
            <a:stCxn id="17455" idx="3"/>
            <a:endCxn id="17457" idx="1"/>
          </p:cNvCxnSpPr>
          <p:nvPr/>
        </p:nvCxnSpPr>
        <p:spPr>
          <a:xfrm flipV="1">
            <a:off x="7644384" y="4626864"/>
            <a:ext cx="201168" cy="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59" name="Rounded Rectangle 17458"/>
          <p:cNvSpPr/>
          <p:nvPr/>
        </p:nvSpPr>
        <p:spPr>
          <a:xfrm>
            <a:off x="9235440" y="4315968"/>
            <a:ext cx="1188720" cy="621792"/>
          </a:xfrm>
          <a:prstGeom prst="roundRect">
            <a:avLst>
              <a:gd name="adj" fmla="val 11764"/>
            </a:avLst>
          </a:prstGeom>
          <a:solidFill>
            <a:srgbClr val="E6EEF8"/>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18288" rIns="36576" bIns="18288" rtlCol="0" anchor="ctr">
            <a:noAutofit/>
          </a:bodyPr>
          <a:lstStyle/>
          <a:p>
            <a:pPr algn="ctr"/>
            <a:r>
              <a:rPr sz="1050" b="1" i="0">
                <a:solidFill>
                  <a:srgbClr val="0B2A4A"/>
                </a:solidFill>
                <a:latin typeface="Arial" panose="020B0604020202020204"/>
              </a:rPr>
              <a:t>Owner + Due Date + Resolution</a:t>
            </a:r>
          </a:p>
        </p:txBody>
      </p:sp>
      <p:cxnSp>
        <p:nvCxnSpPr>
          <p:cNvPr id="17460" name="Connector 17459"/>
          <p:cNvCxnSpPr>
            <a:stCxn id="17457" idx="3"/>
            <a:endCxn id="17459" idx="1"/>
          </p:cNvCxnSpPr>
          <p:nvPr/>
        </p:nvCxnSpPr>
        <p:spPr>
          <a:xfrm flipV="1">
            <a:off x="9034272" y="4626864"/>
            <a:ext cx="201168" cy="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61" name="Rounded Rectangle 17460"/>
          <p:cNvSpPr/>
          <p:nvPr/>
        </p:nvSpPr>
        <p:spPr>
          <a:xfrm>
            <a:off x="10625328" y="4315968"/>
            <a:ext cx="1188720" cy="621792"/>
          </a:xfrm>
          <a:prstGeom prst="roundRect">
            <a:avLst>
              <a:gd name="adj" fmla="val 11764"/>
            </a:avLst>
          </a:prstGeom>
          <a:solidFill>
            <a:srgbClr val="E6EEF8"/>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36576" tIns="18288" rIns="36576" bIns="18288" rtlCol="0" anchor="ctr">
            <a:noAutofit/>
          </a:bodyPr>
          <a:lstStyle/>
          <a:p>
            <a:pPr algn="ctr"/>
            <a:r>
              <a:rPr sz="1050" b="1" i="0">
                <a:solidFill>
                  <a:srgbClr val="0B2A4A"/>
                </a:solidFill>
                <a:latin typeface="Arial" panose="020B0604020202020204"/>
              </a:rPr>
              <a:t>Officer Brief</a:t>
            </a:r>
          </a:p>
        </p:txBody>
      </p:sp>
      <p:cxnSp>
        <p:nvCxnSpPr>
          <p:cNvPr id="17462" name="Connector 17461"/>
          <p:cNvCxnSpPr>
            <a:stCxn id="17459" idx="3"/>
            <a:endCxn id="17461" idx="1"/>
          </p:cNvCxnSpPr>
          <p:nvPr/>
        </p:nvCxnSpPr>
        <p:spPr>
          <a:xfrm flipV="1">
            <a:off x="10424160" y="4626864"/>
            <a:ext cx="201168" cy="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463" name="Connector 17462"/>
          <p:cNvCxnSpPr/>
          <p:nvPr/>
        </p:nvCxnSpPr>
        <p:spPr>
          <a:xfrm>
            <a:off x="3474720" y="4626864"/>
            <a:ext cx="201167" cy="0"/>
          </a:xfrm>
          <a:prstGeom prst="line">
            <a:avLst/>
          </a:prstGeom>
          <a:ln w="25400">
            <a:solidFill>
              <a:srgbClr val="0B2A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64" name="TextBox 17463"/>
          <p:cNvSpPr txBox="1"/>
          <p:nvPr/>
        </p:nvSpPr>
        <p:spPr>
          <a:xfrm>
            <a:off x="365760" y="5120640"/>
            <a:ext cx="1005840" cy="365760"/>
          </a:xfrm>
          <a:prstGeom prst="rect">
            <a:avLst/>
          </a:prstGeom>
          <a:noFill/>
        </p:spPr>
        <p:txBody>
          <a:bodyPr wrap="square" lIns="18288" tIns="18288" rIns="18288" bIns="18288" anchor="ctr">
            <a:noAutofit/>
          </a:bodyPr>
          <a:lstStyle/>
          <a:p>
            <a:pPr algn="l"/>
            <a:r>
              <a:rPr sz="1050" b="1" i="0">
                <a:solidFill>
                  <a:srgbClr val="64748B"/>
                </a:solidFill>
                <a:latin typeface="Arial" panose="020B0604020202020204"/>
              </a:rPr>
              <a:t>TECH STACK</a:t>
            </a:r>
          </a:p>
        </p:txBody>
      </p:sp>
      <p:sp>
        <p:nvSpPr>
          <p:cNvPr id="17465" name="Rounded Rectangle 17464"/>
          <p:cNvSpPr/>
          <p:nvPr/>
        </p:nvSpPr>
        <p:spPr>
          <a:xfrm>
            <a:off x="1417320" y="5120640"/>
            <a:ext cx="3017520" cy="365760"/>
          </a:xfrm>
          <a:prstGeom prst="roundRect">
            <a:avLst>
              <a:gd name="adj" fmla="val 20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wrap="square" lIns="27432" tIns="0" rIns="27432" bIns="0" rtlCol="0" anchor="ctr">
            <a:noAutofit/>
          </a:bodyPr>
          <a:lstStyle/>
          <a:p>
            <a:pPr algn="ctr"/>
            <a:r>
              <a:rPr sz="1050" b="0" i="0">
                <a:solidFill>
                  <a:srgbClr val="0B2A4A"/>
                </a:solidFill>
                <a:latin typeface="Arial" panose="020B0604020202020204"/>
              </a:rPr>
              <a:t>React → FastAPI → PostgreSQL / PostGIS</a:t>
            </a:r>
          </a:p>
        </p:txBody>
      </p:sp>
      <p:sp>
        <p:nvSpPr>
          <p:cNvPr id="17466" name="Rounded Rectangle 17465"/>
          <p:cNvSpPr/>
          <p:nvPr/>
        </p:nvSpPr>
        <p:spPr>
          <a:xfrm>
            <a:off x="4526280" y="5120640"/>
            <a:ext cx="2194560" cy="365760"/>
          </a:xfrm>
          <a:prstGeom prst="roundRect">
            <a:avLst>
              <a:gd name="adj" fmla="val 20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wrap="square" lIns="27432" tIns="0" rIns="27432" bIns="0" rtlCol="0" anchor="ctr">
            <a:noAutofit/>
          </a:bodyPr>
          <a:lstStyle/>
          <a:p>
            <a:pPr algn="ctr"/>
            <a:r>
              <a:rPr sz="1050" b="0" i="0">
                <a:solidFill>
                  <a:srgbClr val="0B2A4A"/>
                </a:solidFill>
                <a:latin typeface="Arial" panose="020B0604020202020204"/>
              </a:rPr>
              <a:t>Supabase → auth / identity</a:t>
            </a:r>
          </a:p>
        </p:txBody>
      </p:sp>
      <p:sp>
        <p:nvSpPr>
          <p:cNvPr id="17467" name="Rounded Rectangle 17466"/>
          <p:cNvSpPr/>
          <p:nvPr/>
        </p:nvSpPr>
        <p:spPr>
          <a:xfrm>
            <a:off x="6812280" y="5120640"/>
            <a:ext cx="1600200" cy="365760"/>
          </a:xfrm>
          <a:prstGeom prst="roundRect">
            <a:avLst>
              <a:gd name="adj" fmla="val 20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wrap="square" lIns="27432" tIns="0" rIns="27432" bIns="0" rtlCol="0" anchor="ctr">
            <a:noAutofit/>
          </a:bodyPr>
          <a:lstStyle/>
          <a:p>
            <a:pPr algn="ctr"/>
            <a:r>
              <a:rPr sz="1050" b="0" i="0">
                <a:solidFill>
                  <a:srgbClr val="0B2A4A"/>
                </a:solidFill>
                <a:latin typeface="Arial" panose="020B0604020202020204"/>
              </a:rPr>
              <a:t>scikit-learn → ML</a:t>
            </a:r>
          </a:p>
        </p:txBody>
      </p:sp>
      <p:sp>
        <p:nvSpPr>
          <p:cNvPr id="17468" name="Rounded Rectangle 17467"/>
          <p:cNvSpPr/>
          <p:nvPr/>
        </p:nvSpPr>
        <p:spPr>
          <a:xfrm>
            <a:off x="8503920" y="5120640"/>
            <a:ext cx="1874519" cy="365760"/>
          </a:xfrm>
          <a:prstGeom prst="roundRect">
            <a:avLst>
              <a:gd name="adj" fmla="val 20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wrap="square" lIns="27432" tIns="0" rIns="27432" bIns="0" rtlCol="0" anchor="ctr">
            <a:noAutofit/>
          </a:bodyPr>
          <a:lstStyle/>
          <a:p>
            <a:pPr algn="ctr"/>
            <a:r>
              <a:rPr sz="1050" b="0" i="0">
                <a:solidFill>
                  <a:srgbClr val="0B2A4A"/>
                </a:solidFill>
                <a:latin typeface="Arial" panose="020B0604020202020204"/>
              </a:rPr>
              <a:t>SHAP → explainability</a:t>
            </a:r>
          </a:p>
        </p:txBody>
      </p:sp>
      <p:sp>
        <p:nvSpPr>
          <p:cNvPr id="17469" name="Rounded Rectangle 17468"/>
          <p:cNvSpPr/>
          <p:nvPr/>
        </p:nvSpPr>
        <p:spPr>
          <a:xfrm>
            <a:off x="10469880" y="5120640"/>
            <a:ext cx="1325880" cy="365760"/>
          </a:xfrm>
          <a:prstGeom prst="roundRect">
            <a:avLst>
              <a:gd name="adj" fmla="val 20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wrap="square" lIns="27432" tIns="0" rIns="27432" bIns="0" rtlCol="0" anchor="ctr">
            <a:noAutofit/>
          </a:bodyPr>
          <a:lstStyle/>
          <a:p>
            <a:pPr algn="ctr"/>
            <a:r>
              <a:rPr sz="1050" b="0" i="0">
                <a:solidFill>
                  <a:srgbClr val="0B2A4A"/>
                </a:solidFill>
                <a:latin typeface="Arial" panose="020B0604020202020204"/>
              </a:rPr>
              <a:t>Leaflet → GIS</a:t>
            </a:r>
          </a:p>
        </p:txBody>
      </p:sp>
      <p:sp>
        <p:nvSpPr>
          <p:cNvPr id="17470" name="TextBox 17469"/>
          <p:cNvSpPr txBox="1"/>
          <p:nvPr/>
        </p:nvSpPr>
        <p:spPr>
          <a:xfrm>
            <a:off x="365760" y="5596128"/>
            <a:ext cx="1005840" cy="457200"/>
          </a:xfrm>
          <a:prstGeom prst="rect">
            <a:avLst/>
          </a:prstGeom>
          <a:noFill/>
        </p:spPr>
        <p:txBody>
          <a:bodyPr wrap="square" lIns="18288" tIns="18288" rIns="18288" bIns="18288" anchor="ctr">
            <a:noAutofit/>
          </a:bodyPr>
          <a:lstStyle/>
          <a:p>
            <a:pPr algn="l"/>
            <a:r>
              <a:rPr sz="1000" b="1" i="0">
                <a:solidFill>
                  <a:srgbClr val="64748B"/>
                </a:solidFill>
                <a:latin typeface="Arial" panose="020B0604020202020204"/>
              </a:rPr>
              <a:t>DISTRICT</a:t>
            </a:r>
          </a:p>
          <a:p>
            <a:pPr algn="l"/>
            <a:r>
              <a:rPr sz="1000" b="1" i="0">
                <a:solidFill>
                  <a:srgbClr val="64748B"/>
                </a:solidFill>
                <a:latin typeface="Arial" panose="020B0604020202020204"/>
              </a:rPr>
              <a:t>OFFICER FLOW</a:t>
            </a:r>
          </a:p>
        </p:txBody>
      </p:sp>
      <p:sp>
        <p:nvSpPr>
          <p:cNvPr id="17471" name="Pentagon 17470"/>
          <p:cNvSpPr/>
          <p:nvPr/>
        </p:nvSpPr>
        <p:spPr>
          <a:xfrm>
            <a:off x="1417320" y="5596128"/>
            <a:ext cx="1260729" cy="457200"/>
          </a:xfrm>
          <a:prstGeom prst="homePlat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Login</a:t>
            </a:r>
          </a:p>
        </p:txBody>
      </p:sp>
      <p:sp>
        <p:nvSpPr>
          <p:cNvPr id="17472" name="Pentagon 17471"/>
          <p:cNvSpPr/>
          <p:nvPr/>
        </p:nvSpPr>
        <p:spPr>
          <a:xfrm>
            <a:off x="2723769" y="5596128"/>
            <a:ext cx="1260729" cy="457200"/>
          </a:xfrm>
          <a:prstGeom prst="homePlat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War Room</a:t>
            </a:r>
          </a:p>
        </p:txBody>
      </p:sp>
      <p:sp>
        <p:nvSpPr>
          <p:cNvPr id="17473" name="Pentagon 17472"/>
          <p:cNvSpPr/>
          <p:nvPr/>
        </p:nvSpPr>
        <p:spPr>
          <a:xfrm>
            <a:off x="4030218" y="5596128"/>
            <a:ext cx="1260729" cy="457200"/>
          </a:xfrm>
          <a:prstGeom prst="homePlat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Priority project</a:t>
            </a:r>
          </a:p>
        </p:txBody>
      </p:sp>
      <p:sp>
        <p:nvSpPr>
          <p:cNvPr id="17474" name="Pentagon 17473"/>
          <p:cNvSpPr/>
          <p:nvPr/>
        </p:nvSpPr>
        <p:spPr>
          <a:xfrm>
            <a:off x="5336667" y="5596128"/>
            <a:ext cx="1260729" cy="457200"/>
          </a:xfrm>
          <a:prstGeom prst="homePlat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Process Twin</a:t>
            </a:r>
          </a:p>
        </p:txBody>
      </p:sp>
      <p:sp>
        <p:nvSpPr>
          <p:cNvPr id="17475" name="Pentagon 17474"/>
          <p:cNvSpPr/>
          <p:nvPr/>
        </p:nvSpPr>
        <p:spPr>
          <a:xfrm>
            <a:off x="6643116" y="5596128"/>
            <a:ext cx="1260729" cy="457200"/>
          </a:xfrm>
          <a:prstGeom prst="homePlat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Intelligence</a:t>
            </a:r>
          </a:p>
        </p:txBody>
      </p:sp>
      <p:sp>
        <p:nvSpPr>
          <p:cNvPr id="17476" name="Pentagon 17475"/>
          <p:cNvSpPr/>
          <p:nvPr/>
        </p:nvSpPr>
        <p:spPr>
          <a:xfrm>
            <a:off x="7949565" y="5596128"/>
            <a:ext cx="1260729" cy="457200"/>
          </a:xfrm>
          <a:prstGeom prst="homePlat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Simulate</a:t>
            </a:r>
          </a:p>
        </p:txBody>
      </p:sp>
      <p:sp>
        <p:nvSpPr>
          <p:cNvPr id="17477" name="Pentagon 17476"/>
          <p:cNvSpPr/>
          <p:nvPr/>
        </p:nvSpPr>
        <p:spPr>
          <a:xfrm>
            <a:off x="9256014" y="5596128"/>
            <a:ext cx="1260729" cy="457200"/>
          </a:xfrm>
          <a:prstGeom prst="homePlat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Track action</a:t>
            </a:r>
          </a:p>
        </p:txBody>
      </p:sp>
      <p:sp>
        <p:nvSpPr>
          <p:cNvPr id="17478" name="Pentagon 17477"/>
          <p:cNvSpPr/>
          <p:nvPr/>
        </p:nvSpPr>
        <p:spPr>
          <a:xfrm>
            <a:off x="10562463" y="5596128"/>
            <a:ext cx="1260729" cy="457200"/>
          </a:xfrm>
          <a:prstGeom prst="homePlat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27432" tIns="0" rIns="109728" bIns="0" rtlCol="0" anchor="ctr">
            <a:noAutofit/>
          </a:bodyPr>
          <a:lstStyle/>
          <a:p>
            <a:pPr algn="ctr"/>
            <a:r>
              <a:rPr sz="1050" b="1" i="0">
                <a:solidFill>
                  <a:srgbClr val="FFFFFF"/>
                </a:solidFill>
                <a:latin typeface="Arial" panose="020B0604020202020204"/>
              </a:rPr>
              <a:t>Officer Brief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0" y="6354762"/>
            <a:ext cx="12191999" cy="503238"/>
          </a:xfrm>
          <a:prstGeom prst="rect">
            <a:avLst/>
          </a:prstGeom>
          <a:solidFill>
            <a:srgbClr val="0070C0"/>
          </a:solidFill>
          <a:ln w="9525">
            <a:noFill/>
            <a:miter lim="800000"/>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C0504D">
                  <a:lumMod val="75000"/>
                </a:srgbClr>
              </a:solidFill>
              <a:effectLst/>
              <a:uLnTx/>
              <a:uFillTx/>
              <a:latin typeface="Calibri" panose="020F0502020204030204"/>
              <a:ea typeface="MS PGothic" panose="020B0600070205080204" pitchFamily="1" charset="-128"/>
              <a:cs typeface="+mn-cs"/>
            </a:endParaRPr>
          </a:p>
        </p:txBody>
      </p:sp>
      <p:sp>
        <p:nvSpPr>
          <p:cNvPr id="17409" name="Title 1"/>
          <p:cNvSpPr>
            <a:spLocks noGrp="1"/>
          </p:cNvSpPr>
          <p:nvPr>
            <p:ph type="title"/>
          </p:nvPr>
        </p:nvSpPr>
        <p:spPr>
          <a:xfrm>
            <a:off x="1627632" y="36576"/>
            <a:ext cx="8092440" cy="1042415"/>
          </a:xfrm>
        </p:spPr>
        <p:txBody>
          <a:bodyPr wrap="square"/>
          <a:lstStyle/>
          <a:p>
            <a:pPr algn="ctr"/>
            <a:r>
              <a:rPr sz="1200" b="1">
                <a:solidFill>
                  <a:srgbClr val="0070C0"/>
                </a:solidFill>
                <a:latin typeface="Arial" panose="020B0604020202020204"/>
              </a:rPr>
              <a:t>TECHNICAL APPROACH  ·  FEASIBILITY AND VIABILITY</a:t>
            </a:r>
          </a:p>
          <a:p>
            <a:pPr algn="ctr"/>
            <a:r>
              <a:rPr sz="2400" b="1">
                <a:solidFill>
                  <a:srgbClr val="0B2A4A"/>
                </a:solidFill>
                <a:latin typeface="Times New Roman" panose="02020603050405020304"/>
              </a:rPr>
              <a:t>EXPLAINABLE INTELLIGENCE,</a:t>
            </a:r>
            <a:br>
              <a:rPr sz="2400" b="1">
                <a:solidFill>
                  <a:srgbClr val="0B2A4A"/>
                </a:solidFill>
                <a:latin typeface="Times New Roman" panose="02020603050405020304"/>
              </a:rPr>
            </a:br>
            <a:r>
              <a:rPr sz="2400" b="1">
                <a:solidFill>
                  <a:srgbClr val="0B2A4A"/>
                </a:solidFill>
                <a:latin typeface="Times New Roman" panose="02020603050405020304"/>
              </a:rPr>
              <a:t>NOT A BLACK BOX</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MS PGothic" panose="020B0600070205080204" pitchFamily="1" charset="-128"/>
                <a:cs typeface="+mn-cs"/>
              </a:rPr>
              <a:pPr marL="0" marR="0" lvl="0" indent="0" algn="r" defTabSz="457200" rtl="0" eaLnBrk="1" fontAlgn="base" latinLnBrk="0" hangingPunct="1">
                <a:lnSpc>
                  <a:spcPct val="100000"/>
                </a:lnSpc>
                <a:spcBef>
                  <a:spcPct val="0"/>
                </a:spcBef>
                <a:spcAft>
                  <a:spcPct val="0"/>
                </a:spcAft>
                <a:buClrTx/>
                <a:buSzTx/>
                <a:buFontTx/>
                <a:buNone/>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MS PGothic" panose="020B0600070205080204"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a:t>
            </a:r>
            <a:r>
              <a:rPr kumimoji="0" lang="en-US" sz="1200" b="0" i="0" u="none" strike="noStrike" kern="1200" cap="none" spc="0" normalizeH="0" baseline="0" noProof="0" dirty="0" smtClean="0">
                <a:ln>
                  <a:noFill/>
                </a:ln>
                <a:solidFill>
                  <a:prstClr val="white"/>
                </a:solidFill>
                <a:effectLst/>
                <a:uLnTx/>
                <a:uFillTx/>
                <a:latin typeface="TradeGothic"/>
                <a:ea typeface="+mn-ea"/>
                <a:cs typeface="+mn-cs"/>
              </a:rPr>
              <a:t>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18288" rIns="18288" rtlCol="0" anchor="ctr"/>
          <a:lstStyle/>
          <a:p>
            <a:pPr algn="ctr"/>
            <a:r>
              <a:rPr sz="1300" b="1">
                <a:solidFill>
                  <a:srgbClr val="0B2A4A"/>
                </a:solidFill>
                <a:latin typeface="Arial" panose="020B0604020202020204"/>
              </a:rPr>
              <a:t>Null Pointers</a:t>
            </a:r>
            <a:endParaRPr lang="en-IN" dirty="0"/>
          </a:p>
        </p:txBody>
      </p:sp>
      <p:pic>
        <p:nvPicPr>
          <p:cNvPr id="11" name="Picture 10"/>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188720"/>
            <a:ext cx="3666744" cy="4828032"/>
          </a:xfrm>
          <a:prstGeom prst="rect">
            <a:avLst/>
          </a:prstGeom>
          <a:solidFill>
            <a:srgbClr val="E6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1" name="Rectangle 17410"/>
          <p:cNvSpPr/>
          <p:nvPr/>
        </p:nvSpPr>
        <p:spPr>
          <a:xfrm>
            <a:off x="365760" y="1188720"/>
            <a:ext cx="3666744" cy="384048"/>
          </a:xfrm>
          <a:prstGeom prst="rect">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300" b="1" i="0">
                <a:solidFill>
                  <a:srgbClr val="FFFFFF"/>
                </a:solidFill>
                <a:latin typeface="Arial" panose="020B0604020202020204"/>
              </a:rPr>
              <a:t>ACQUISITION INTELLIGENCE</a:t>
            </a:r>
          </a:p>
        </p:txBody>
      </p:sp>
      <p:sp>
        <p:nvSpPr>
          <p:cNvPr id="17412" name="Rectangle 17411"/>
          <p:cNvSpPr/>
          <p:nvPr/>
        </p:nvSpPr>
        <p:spPr>
          <a:xfrm>
            <a:off x="4261104" y="1188720"/>
            <a:ext cx="3666744" cy="4828032"/>
          </a:xfrm>
          <a:prstGeom prst="rect">
            <a:avLst/>
          </a:prstGeom>
          <a:solidFill>
            <a:srgbClr val="E3F3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3" name="Rectangle 17412"/>
          <p:cNvSpPr/>
          <p:nvPr/>
        </p:nvSpPr>
        <p:spPr>
          <a:xfrm>
            <a:off x="4261104" y="1188720"/>
            <a:ext cx="3666744" cy="384048"/>
          </a:xfrm>
          <a:prstGeom prst="rect">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300" b="1" i="0">
                <a:solidFill>
                  <a:srgbClr val="FFFFFF"/>
                </a:solidFill>
                <a:latin typeface="Arial" panose="020B0604020202020204"/>
              </a:rPr>
              <a:t>PAIMANA ML</a:t>
            </a:r>
          </a:p>
        </p:txBody>
      </p:sp>
      <p:sp>
        <p:nvSpPr>
          <p:cNvPr id="17414" name="Rectangle 17413"/>
          <p:cNvSpPr/>
          <p:nvPr/>
        </p:nvSpPr>
        <p:spPr>
          <a:xfrm>
            <a:off x="8156448" y="1188720"/>
            <a:ext cx="3666744" cy="4828032"/>
          </a:xfrm>
          <a:prstGeom prst="rect">
            <a:avLst/>
          </a:prstGeom>
          <a:solidFill>
            <a:srgbClr val="EEF3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5" name="Rectangle 17414"/>
          <p:cNvSpPr/>
          <p:nvPr/>
        </p:nvSpPr>
        <p:spPr>
          <a:xfrm>
            <a:off x="8156448" y="1188720"/>
            <a:ext cx="3666744" cy="384048"/>
          </a:xfrm>
          <a:prstGeom prst="rect">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300" b="1" i="0">
                <a:solidFill>
                  <a:srgbClr val="FFFFFF"/>
                </a:solidFill>
                <a:latin typeface="Arial" panose="020B0604020202020204"/>
              </a:rPr>
              <a:t>SYSTEM REQUIREMENTS</a:t>
            </a:r>
          </a:p>
        </p:txBody>
      </p:sp>
      <p:sp>
        <p:nvSpPr>
          <p:cNvPr id="17416" name="Rounded Rectangle 17415"/>
          <p:cNvSpPr/>
          <p:nvPr/>
        </p:nvSpPr>
        <p:spPr>
          <a:xfrm>
            <a:off x="548640" y="1764792"/>
            <a:ext cx="3300984" cy="420624"/>
          </a:xfrm>
          <a:prstGeom prst="roundRect">
            <a:avLst>
              <a:gd name="adj" fmla="val 17391"/>
            </a:avLst>
          </a:prstGeom>
          <a:solidFill>
            <a:srgbClr val="FFFFFF"/>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0B2A4A"/>
                </a:solidFill>
                <a:latin typeface="Arial" panose="020B0604020202020204"/>
              </a:rPr>
              <a:t>Recorded operational indicators</a:t>
            </a:r>
          </a:p>
        </p:txBody>
      </p:sp>
      <p:sp>
        <p:nvSpPr>
          <p:cNvPr id="17417" name="Rounded Rectangle 17416"/>
          <p:cNvSpPr/>
          <p:nvPr/>
        </p:nvSpPr>
        <p:spPr>
          <a:xfrm>
            <a:off x="548640" y="2368296"/>
            <a:ext cx="3300984" cy="420624"/>
          </a:xfrm>
          <a:prstGeom prst="roundRect">
            <a:avLst>
              <a:gd name="adj" fmla="val 17391"/>
            </a:avLst>
          </a:prstGeom>
          <a:solidFill>
            <a:srgbClr val="FFFFFF"/>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0B2A4A"/>
                </a:solidFill>
                <a:latin typeface="Arial" panose="020B0604020202020204"/>
              </a:rPr>
              <a:t>Friction</a:t>
            </a:r>
          </a:p>
        </p:txBody>
      </p:sp>
      <p:cxnSp>
        <p:nvCxnSpPr>
          <p:cNvPr id="17418" name="Connector 17417"/>
          <p:cNvCxnSpPr>
            <a:stCxn id="17416" idx="2"/>
            <a:endCxn id="17417" idx="0"/>
          </p:cNvCxnSpPr>
          <p:nvPr/>
        </p:nvCxnSpPr>
        <p:spPr>
          <a:xfrm flipH="1">
            <a:off x="2199132" y="2185416"/>
            <a:ext cx="0" cy="18288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19" name="Rounded Rectangle 17418"/>
          <p:cNvSpPr/>
          <p:nvPr/>
        </p:nvSpPr>
        <p:spPr>
          <a:xfrm>
            <a:off x="548640" y="2971800"/>
            <a:ext cx="3300984" cy="420624"/>
          </a:xfrm>
          <a:prstGeom prst="roundRect">
            <a:avLst>
              <a:gd name="adj" fmla="val 17391"/>
            </a:avLst>
          </a:prstGeom>
          <a:solidFill>
            <a:srgbClr val="FFFFFF"/>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0B2A4A"/>
                </a:solidFill>
                <a:latin typeface="Arial" panose="020B0604020202020204"/>
              </a:rPr>
              <a:t>Readiness</a:t>
            </a:r>
          </a:p>
        </p:txBody>
      </p:sp>
      <p:cxnSp>
        <p:nvCxnSpPr>
          <p:cNvPr id="17420" name="Connector 17419"/>
          <p:cNvCxnSpPr>
            <a:stCxn id="17417" idx="2"/>
            <a:endCxn id="17419" idx="0"/>
          </p:cNvCxnSpPr>
          <p:nvPr/>
        </p:nvCxnSpPr>
        <p:spPr>
          <a:xfrm flipH="1">
            <a:off x="2199132" y="2788920"/>
            <a:ext cx="0" cy="18288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1" name="Rounded Rectangle 17420"/>
          <p:cNvSpPr/>
          <p:nvPr/>
        </p:nvSpPr>
        <p:spPr>
          <a:xfrm>
            <a:off x="548640" y="3575304"/>
            <a:ext cx="3300984" cy="420624"/>
          </a:xfrm>
          <a:prstGeom prst="roundRect">
            <a:avLst>
              <a:gd name="adj" fmla="val 17391"/>
            </a:avLst>
          </a:prstGeom>
          <a:solidFill>
            <a:srgbClr val="1F4E8C"/>
          </a:solidFill>
          <a:ln w="15875">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Arial" panose="020B0604020202020204"/>
              </a:rPr>
              <a:t>Acquisition Delay Risk</a:t>
            </a:r>
          </a:p>
        </p:txBody>
      </p:sp>
      <p:cxnSp>
        <p:nvCxnSpPr>
          <p:cNvPr id="17422" name="Connector 17421"/>
          <p:cNvCxnSpPr>
            <a:stCxn id="17419" idx="2"/>
            <a:endCxn id="17421" idx="0"/>
          </p:cNvCxnSpPr>
          <p:nvPr/>
        </p:nvCxnSpPr>
        <p:spPr>
          <a:xfrm flipH="1">
            <a:off x="2199132" y="3392424"/>
            <a:ext cx="0" cy="18288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3" name="Rounded Rectangle 17422"/>
          <p:cNvSpPr/>
          <p:nvPr/>
        </p:nvSpPr>
        <p:spPr>
          <a:xfrm>
            <a:off x="548640" y="4178808"/>
            <a:ext cx="3300984" cy="420624"/>
          </a:xfrm>
          <a:prstGeom prst="roundRect">
            <a:avLst>
              <a:gd name="adj" fmla="val 17391"/>
            </a:avLst>
          </a:prstGeom>
          <a:solidFill>
            <a:srgbClr val="0B2A4A"/>
          </a:solidFill>
          <a:ln w="15875">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Arial" panose="020B0604020202020204"/>
              </a:rPr>
              <a:t>Intervention Priority</a:t>
            </a:r>
          </a:p>
        </p:txBody>
      </p:sp>
      <p:cxnSp>
        <p:nvCxnSpPr>
          <p:cNvPr id="17424" name="Connector 17423"/>
          <p:cNvCxnSpPr>
            <a:stCxn id="17421" idx="2"/>
            <a:endCxn id="17423" idx="0"/>
          </p:cNvCxnSpPr>
          <p:nvPr/>
        </p:nvCxnSpPr>
        <p:spPr>
          <a:xfrm flipH="1">
            <a:off x="2199132" y="3995928"/>
            <a:ext cx="0" cy="182880"/>
          </a:xfrm>
          <a:prstGeom prst="line">
            <a:avLst/>
          </a:prstGeom>
          <a:ln w="22225">
            <a:solidFill>
              <a:srgbClr val="1F4E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5" name="TextBox 17424"/>
          <p:cNvSpPr txBox="1"/>
          <p:nvPr/>
        </p:nvSpPr>
        <p:spPr>
          <a:xfrm>
            <a:off x="548640" y="4681728"/>
            <a:ext cx="3300984" cy="292608"/>
          </a:xfrm>
          <a:prstGeom prst="rect">
            <a:avLst/>
          </a:prstGeom>
          <a:noFill/>
        </p:spPr>
        <p:txBody>
          <a:bodyPr wrap="square" lIns="18288" tIns="18288" rIns="18288" bIns="18288" anchor="ctr">
            <a:noAutofit/>
          </a:bodyPr>
          <a:lstStyle/>
          <a:p>
            <a:pPr algn="ctr"/>
            <a:r>
              <a:rPr sz="1200" b="0" i="1">
                <a:solidFill>
                  <a:srgbClr val="1F4E8C"/>
                </a:solidFill>
                <a:latin typeface="Arial" panose="020B0604020202020204"/>
              </a:rPr>
              <a:t>Transparent rule-based decision support</a:t>
            </a:r>
          </a:p>
        </p:txBody>
      </p:sp>
      <p:sp>
        <p:nvSpPr>
          <p:cNvPr id="17426" name="TextBox 17425"/>
          <p:cNvSpPr txBox="1"/>
          <p:nvPr/>
        </p:nvSpPr>
        <p:spPr>
          <a:xfrm>
            <a:off x="548640" y="5074920"/>
            <a:ext cx="3300984" cy="219456"/>
          </a:xfrm>
          <a:prstGeom prst="rect">
            <a:avLst/>
          </a:prstGeom>
          <a:noFill/>
        </p:spPr>
        <p:txBody>
          <a:bodyPr wrap="square" lIns="18288" tIns="18288" rIns="18288" bIns="18288" anchor="ctr">
            <a:noAutofit/>
          </a:bodyPr>
          <a:lstStyle/>
          <a:p>
            <a:pPr algn="ctr"/>
            <a:r>
              <a:rPr sz="1000" b="1" i="0">
                <a:solidFill>
                  <a:srgbClr val="64748B"/>
                </a:solidFill>
                <a:latin typeface="Arial" panose="020B0604020202020204"/>
              </a:rPr>
              <a:t>Delay Risk draws on</a:t>
            </a:r>
          </a:p>
        </p:txBody>
      </p:sp>
      <p:sp>
        <p:nvSpPr>
          <p:cNvPr id="17427" name="Rounded Rectangle 17426"/>
          <p:cNvSpPr/>
          <p:nvPr/>
        </p:nvSpPr>
        <p:spPr>
          <a:xfrm>
            <a:off x="548640" y="5330952"/>
            <a:ext cx="1623060" cy="310896"/>
          </a:xfrm>
          <a:prstGeom prst="roundRect">
            <a:avLst>
              <a:gd name="adj" fmla="val 23529"/>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Friction</a:t>
            </a:r>
          </a:p>
        </p:txBody>
      </p:sp>
      <p:sp>
        <p:nvSpPr>
          <p:cNvPr id="17428" name="Rounded Rectangle 17427"/>
          <p:cNvSpPr/>
          <p:nvPr/>
        </p:nvSpPr>
        <p:spPr>
          <a:xfrm>
            <a:off x="2226564" y="5330952"/>
            <a:ext cx="1623060" cy="310896"/>
          </a:xfrm>
          <a:prstGeom prst="roundRect">
            <a:avLst>
              <a:gd name="adj" fmla="val 23529"/>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Readiness</a:t>
            </a:r>
          </a:p>
        </p:txBody>
      </p:sp>
      <p:sp>
        <p:nvSpPr>
          <p:cNvPr id="17429" name="Rounded Rectangle 17428"/>
          <p:cNvSpPr/>
          <p:nvPr/>
        </p:nvSpPr>
        <p:spPr>
          <a:xfrm>
            <a:off x="548640" y="5696712"/>
            <a:ext cx="1623060" cy="310896"/>
          </a:xfrm>
          <a:prstGeom prst="roundRect">
            <a:avLst>
              <a:gd name="adj" fmla="val 23529"/>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Elapsed pressure</a:t>
            </a:r>
          </a:p>
        </p:txBody>
      </p:sp>
      <p:sp>
        <p:nvSpPr>
          <p:cNvPr id="17430" name="Rounded Rectangle 17429"/>
          <p:cNvSpPr/>
          <p:nvPr/>
        </p:nvSpPr>
        <p:spPr>
          <a:xfrm>
            <a:off x="2226564" y="5696712"/>
            <a:ext cx="1623060" cy="310896"/>
          </a:xfrm>
          <a:prstGeom prst="roundRect">
            <a:avLst>
              <a:gd name="adj" fmla="val 23529"/>
            </a:avLst>
          </a:prstGeom>
          <a:solidFill>
            <a:srgbClr val="FFFFFF"/>
          </a:solidFill>
          <a:ln w="12700">
            <a:solidFill>
              <a:srgbClr val="1F4E8C"/>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050" b="0" i="0">
                <a:solidFill>
                  <a:srgbClr val="0B2A4A"/>
                </a:solidFill>
                <a:latin typeface="Arial" panose="020B0604020202020204"/>
              </a:rPr>
              <a:t>Case complexity</a:t>
            </a:r>
          </a:p>
        </p:txBody>
      </p:sp>
      <p:sp>
        <p:nvSpPr>
          <p:cNvPr id="17431" name="Rounded Rectangle 17430"/>
          <p:cNvSpPr/>
          <p:nvPr/>
        </p:nvSpPr>
        <p:spPr>
          <a:xfrm>
            <a:off x="4443984" y="1764792"/>
            <a:ext cx="3300984" cy="365760"/>
          </a:xfrm>
          <a:prstGeom prst="roundRect">
            <a:avLst>
              <a:gd name="adj" fmla="val 20000"/>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Real longitudinal MoSPI PAIMANA</a:t>
            </a:r>
          </a:p>
        </p:txBody>
      </p:sp>
      <p:sp>
        <p:nvSpPr>
          <p:cNvPr id="17432" name="Rounded Rectangle 17431"/>
          <p:cNvSpPr/>
          <p:nvPr/>
        </p:nvSpPr>
        <p:spPr>
          <a:xfrm>
            <a:off x="4443984" y="2276856"/>
            <a:ext cx="3300984" cy="365760"/>
          </a:xfrm>
          <a:prstGeom prst="roundRect">
            <a:avLst>
              <a:gd name="adj" fmla="val 20000"/>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Temporal features</a:t>
            </a:r>
          </a:p>
        </p:txBody>
      </p:sp>
      <p:cxnSp>
        <p:nvCxnSpPr>
          <p:cNvPr id="17433" name="Connector 17432"/>
          <p:cNvCxnSpPr>
            <a:stCxn id="17431" idx="2"/>
            <a:endCxn id="17432" idx="0"/>
          </p:cNvCxnSpPr>
          <p:nvPr/>
        </p:nvCxnSpPr>
        <p:spPr>
          <a:xfrm flipH="1">
            <a:off x="6094476" y="2130552"/>
            <a:ext cx="0" cy="146304"/>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34" name="Rounded Rectangle 17433"/>
          <p:cNvSpPr/>
          <p:nvPr/>
        </p:nvSpPr>
        <p:spPr>
          <a:xfrm>
            <a:off x="4443984" y="2788920"/>
            <a:ext cx="3300984" cy="365760"/>
          </a:xfrm>
          <a:prstGeom prst="roundRect">
            <a:avLst>
              <a:gd name="adj" fmla="val 20000"/>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Random Forest</a:t>
            </a:r>
          </a:p>
        </p:txBody>
      </p:sp>
      <p:cxnSp>
        <p:nvCxnSpPr>
          <p:cNvPr id="17435" name="Connector 17434"/>
          <p:cNvCxnSpPr>
            <a:stCxn id="17432" idx="2"/>
            <a:endCxn id="17434" idx="0"/>
          </p:cNvCxnSpPr>
          <p:nvPr/>
        </p:nvCxnSpPr>
        <p:spPr>
          <a:xfrm flipH="1">
            <a:off x="6094476" y="2642616"/>
            <a:ext cx="0" cy="146304"/>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443984" y="3300984"/>
            <a:ext cx="3300984" cy="365760"/>
          </a:xfrm>
          <a:prstGeom prst="roundRect">
            <a:avLst>
              <a:gd name="adj" fmla="val 20000"/>
            </a:avLst>
          </a:prstGeom>
          <a:solidFill>
            <a:srgbClr val="FFFFFF"/>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0B2A4A"/>
                </a:solidFill>
                <a:latin typeface="Arial" panose="020B0604020202020204"/>
              </a:rPr>
              <a:t>Probability calibration</a:t>
            </a:r>
          </a:p>
        </p:txBody>
      </p:sp>
      <p:cxnSp>
        <p:nvCxnSpPr>
          <p:cNvPr id="17437" name="Connector 17436"/>
          <p:cNvCxnSpPr>
            <a:stCxn id="17434" idx="2"/>
            <a:endCxn id="17436" idx="0"/>
          </p:cNvCxnSpPr>
          <p:nvPr/>
        </p:nvCxnSpPr>
        <p:spPr>
          <a:xfrm flipH="1">
            <a:off x="6094476" y="3154680"/>
            <a:ext cx="0" cy="146304"/>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38" name="Rounded Rectangle 17437"/>
          <p:cNvSpPr/>
          <p:nvPr/>
        </p:nvSpPr>
        <p:spPr>
          <a:xfrm>
            <a:off x="4443984" y="3813048"/>
            <a:ext cx="3300984" cy="365760"/>
          </a:xfrm>
          <a:prstGeom prst="roundRect">
            <a:avLst>
              <a:gd name="adj" fmla="val 20000"/>
            </a:avLst>
          </a:prstGeom>
          <a:solidFill>
            <a:srgbClr val="0E7C86"/>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FFFFFF"/>
                </a:solidFill>
                <a:latin typeface="Arial" panose="020B0604020202020204"/>
              </a:rPr>
              <a:t>3-month schedule signal</a:t>
            </a:r>
          </a:p>
        </p:txBody>
      </p:sp>
      <p:cxnSp>
        <p:nvCxnSpPr>
          <p:cNvPr id="17439" name="Connector 17438"/>
          <p:cNvCxnSpPr>
            <a:stCxn id="17436" idx="2"/>
            <a:endCxn id="17438" idx="0"/>
          </p:cNvCxnSpPr>
          <p:nvPr/>
        </p:nvCxnSpPr>
        <p:spPr>
          <a:xfrm flipH="1">
            <a:off x="6094476" y="3666744"/>
            <a:ext cx="0" cy="146304"/>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40" name="Rounded Rectangle 17439"/>
          <p:cNvSpPr/>
          <p:nvPr/>
        </p:nvSpPr>
        <p:spPr>
          <a:xfrm>
            <a:off x="4443984" y="4325112"/>
            <a:ext cx="3300984" cy="365760"/>
          </a:xfrm>
          <a:prstGeom prst="roundRect">
            <a:avLst>
              <a:gd name="adj" fmla="val 20000"/>
            </a:avLst>
          </a:prstGeom>
          <a:solidFill>
            <a:srgbClr val="0E7C86"/>
          </a:solidFill>
          <a:ln w="15875">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50" b="1" i="0">
                <a:solidFill>
                  <a:srgbClr val="FFFFFF"/>
                </a:solidFill>
                <a:latin typeface="Arial" panose="020B0604020202020204"/>
              </a:rPr>
              <a:t>SHAP explanation</a:t>
            </a:r>
          </a:p>
        </p:txBody>
      </p:sp>
      <p:cxnSp>
        <p:nvCxnSpPr>
          <p:cNvPr id="17441" name="Connector 17440"/>
          <p:cNvCxnSpPr>
            <a:stCxn id="17438" idx="2"/>
            <a:endCxn id="17440" idx="0"/>
          </p:cNvCxnSpPr>
          <p:nvPr/>
        </p:nvCxnSpPr>
        <p:spPr>
          <a:xfrm flipH="1">
            <a:off x="6094476" y="4178808"/>
            <a:ext cx="0" cy="146304"/>
          </a:xfrm>
          <a:prstGeom prst="line">
            <a:avLst/>
          </a:prstGeom>
          <a:ln w="22225">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42" name="TextBox 17441"/>
          <p:cNvSpPr txBox="1"/>
          <p:nvPr/>
        </p:nvSpPr>
        <p:spPr>
          <a:xfrm>
            <a:off x="4443984" y="4754880"/>
            <a:ext cx="3300984" cy="457200"/>
          </a:xfrm>
          <a:prstGeom prst="rect">
            <a:avLst/>
          </a:prstGeom>
          <a:noFill/>
        </p:spPr>
        <p:txBody>
          <a:bodyPr wrap="square" lIns="18288" tIns="18288" rIns="18288" bIns="18288" anchor="ctr">
            <a:noAutofit/>
          </a:bodyPr>
          <a:lstStyle/>
          <a:p>
            <a:pPr algn="ctr"/>
            <a:r>
              <a:rPr sz="1200" b="0" i="1">
                <a:solidFill>
                  <a:srgbClr val="0E7C86"/>
                </a:solidFill>
                <a:latin typeface="Arial" panose="020B0604020202020204"/>
              </a:rPr>
              <a:t>Independent infrastructure schedule early warning</a:t>
            </a:r>
          </a:p>
        </p:txBody>
      </p:sp>
      <p:sp>
        <p:nvSpPr>
          <p:cNvPr id="17443" name="Rounded Rectangle 17442"/>
          <p:cNvSpPr/>
          <p:nvPr/>
        </p:nvSpPr>
        <p:spPr>
          <a:xfrm>
            <a:off x="4443984" y="5285232"/>
            <a:ext cx="3300984" cy="658368"/>
          </a:xfrm>
          <a:prstGeom prst="roundRect">
            <a:avLst>
              <a:gd name="adj" fmla="val 11111"/>
            </a:avLst>
          </a:prstGeom>
          <a:solidFill>
            <a:srgbClr val="FFFFFF"/>
          </a:solidFill>
          <a:ln w="22225">
            <a:solidFill>
              <a:srgbClr val="C62828"/>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spcAft>
                <a:spcPts val="100"/>
              </a:spcAft>
            </a:pPr>
            <a:r>
              <a:rPr sz="1050" b="1" i="0">
                <a:solidFill>
                  <a:srgbClr val="991B1B"/>
                </a:solidFill>
                <a:latin typeface="Arial" panose="020B0604020202020204"/>
              </a:rPr>
              <a:t>ML DOES NOT USE</a:t>
            </a:r>
          </a:p>
          <a:p>
            <a:pPr algn="ctr"/>
            <a:r>
              <a:rPr sz="1150" b="1" i="0">
                <a:solidFill>
                  <a:srgbClr val="1E293B"/>
                </a:solidFill>
                <a:latin typeface="Arial" panose="020B0604020202020204"/>
              </a:rPr>
              <a:t>compensation · possession · disputes · R&amp;R</a:t>
            </a:r>
          </a:p>
        </p:txBody>
      </p:sp>
      <p:sp>
        <p:nvSpPr>
          <p:cNvPr id="17444" name="TextBox 17443"/>
          <p:cNvSpPr txBox="1"/>
          <p:nvPr/>
        </p:nvSpPr>
        <p:spPr>
          <a:xfrm>
            <a:off x="8357616" y="1700784"/>
            <a:ext cx="3264408" cy="237744"/>
          </a:xfrm>
          <a:prstGeom prst="rect">
            <a:avLst/>
          </a:prstGeom>
          <a:noFill/>
        </p:spPr>
        <p:txBody>
          <a:bodyPr wrap="square" lIns="18288" tIns="18288" rIns="18288" bIns="18288" anchor="ctr">
            <a:noAutofit/>
          </a:bodyPr>
          <a:lstStyle/>
          <a:p>
            <a:pPr algn="l"/>
            <a:r>
              <a:rPr sz="1100" b="1" i="0">
                <a:solidFill>
                  <a:srgbClr val="0B2A4A"/>
                </a:solidFill>
                <a:latin typeface="Arial" panose="020B0604020202020204"/>
              </a:rPr>
              <a:t>FUNCTIONAL</a:t>
            </a:r>
          </a:p>
        </p:txBody>
      </p:sp>
      <p:sp>
        <p:nvSpPr>
          <p:cNvPr id="17445" name="TextBox 17444"/>
          <p:cNvSpPr txBox="1"/>
          <p:nvPr/>
        </p:nvSpPr>
        <p:spPr>
          <a:xfrm>
            <a:off x="8357616" y="1975104"/>
            <a:ext cx="3264408" cy="1600200"/>
          </a:xfrm>
          <a:prstGeom prst="rect">
            <a:avLst/>
          </a:prstGeom>
          <a:noFill/>
        </p:spPr>
        <p:txBody>
          <a:bodyPr wrap="square" lIns="18288" tIns="18288" rIns="18288" bIns="18288" anchor="t">
            <a:noAutofit/>
          </a:bodyPr>
          <a:lstStyle/>
          <a:p>
            <a:pPr marL="155575" indent="-155575" algn="l">
              <a:spcAft>
                <a:spcPts val="250"/>
              </a:spcAft>
              <a:buFont typeface="Arial" panose="020B0604020202020204"/>
              <a:buChar char="•"/>
            </a:pPr>
            <a:r>
              <a:rPr sz="1200" b="0" i="0">
                <a:solidFill>
                  <a:srgbClr val="1E293B"/>
                </a:solidFill>
                <a:latin typeface="Arial" panose="020B0604020202020204"/>
              </a:rPr>
              <a:t>portfolio monitoring</a:t>
            </a:r>
          </a:p>
          <a:p>
            <a:pPr marL="155575" indent="-155575" algn="l">
              <a:spcAft>
                <a:spcPts val="250"/>
              </a:spcAft>
              <a:buFont typeface="Arial" panose="020B0604020202020204"/>
              <a:buChar char="•"/>
            </a:pPr>
            <a:r>
              <a:rPr sz="1200" b="0" i="0">
                <a:solidFill>
                  <a:srgbClr val="1E293B"/>
                </a:solidFill>
                <a:latin typeface="Arial" panose="020B0604020202020204"/>
              </a:rPr>
              <a:t>acquisition-risk analysis</a:t>
            </a:r>
          </a:p>
          <a:p>
            <a:pPr marL="155575" indent="-155575" algn="l">
              <a:spcAft>
                <a:spcPts val="250"/>
              </a:spcAft>
              <a:buFont typeface="Arial" panose="020B0604020202020204"/>
              <a:buChar char="•"/>
            </a:pPr>
            <a:r>
              <a:rPr sz="1200" b="0" i="0">
                <a:solidFill>
                  <a:srgbClr val="1E293B"/>
                </a:solidFill>
                <a:latin typeface="Arial" panose="020B0604020202020204"/>
              </a:rPr>
              <a:t>GIS</a:t>
            </a:r>
          </a:p>
          <a:p>
            <a:pPr marL="155575" indent="-155575" algn="l">
              <a:spcAft>
                <a:spcPts val="250"/>
              </a:spcAft>
              <a:buFont typeface="Arial" panose="020B0604020202020204"/>
              <a:buChar char="•"/>
            </a:pPr>
            <a:r>
              <a:rPr sz="1200" b="0" i="0">
                <a:solidFill>
                  <a:srgbClr val="1E293B"/>
                </a:solidFill>
                <a:latin typeface="Arial" panose="020B0604020202020204"/>
              </a:rPr>
              <a:t>explainability</a:t>
            </a:r>
          </a:p>
          <a:p>
            <a:pPr marL="155575" indent="-155575" algn="l">
              <a:spcAft>
                <a:spcPts val="250"/>
              </a:spcAft>
              <a:buFont typeface="Arial" panose="020B0604020202020204"/>
              <a:buChar char="•"/>
            </a:pPr>
            <a:r>
              <a:rPr sz="1200" b="0" i="0">
                <a:solidFill>
                  <a:srgbClr val="1E293B"/>
                </a:solidFill>
                <a:latin typeface="Arial" panose="020B0604020202020204"/>
              </a:rPr>
              <a:t>interventions</a:t>
            </a:r>
          </a:p>
          <a:p>
            <a:pPr marL="155575" indent="-155575" algn="l">
              <a:spcAft>
                <a:spcPts val="250"/>
              </a:spcAft>
              <a:buFont typeface="Arial" panose="020B0604020202020204"/>
              <a:buChar char="•"/>
            </a:pPr>
            <a:r>
              <a:rPr sz="1200" b="0" i="0">
                <a:solidFill>
                  <a:srgbClr val="1E293B"/>
                </a:solidFill>
                <a:latin typeface="Arial" panose="020B0604020202020204"/>
              </a:rPr>
              <a:t>officer brief</a:t>
            </a:r>
          </a:p>
          <a:p>
            <a:pPr marL="155575" indent="-155575" algn="l">
              <a:spcAft>
                <a:spcPts val="250"/>
              </a:spcAft>
              <a:buFont typeface="Arial" panose="020B0604020202020204"/>
              <a:buChar char="•"/>
            </a:pPr>
            <a:r>
              <a:rPr sz="1200" b="0" i="0">
                <a:solidFill>
                  <a:srgbClr val="1E293B"/>
                </a:solidFill>
                <a:latin typeface="Arial" panose="020B0604020202020204"/>
              </a:rPr>
              <a:t>role-based access</a:t>
            </a:r>
          </a:p>
        </p:txBody>
      </p:sp>
      <p:sp>
        <p:nvSpPr>
          <p:cNvPr id="17446" name="TextBox 17445"/>
          <p:cNvSpPr txBox="1"/>
          <p:nvPr/>
        </p:nvSpPr>
        <p:spPr>
          <a:xfrm>
            <a:off x="8357616" y="3657600"/>
            <a:ext cx="3264408" cy="237744"/>
          </a:xfrm>
          <a:prstGeom prst="rect">
            <a:avLst/>
          </a:prstGeom>
          <a:noFill/>
        </p:spPr>
        <p:txBody>
          <a:bodyPr wrap="square" lIns="18288" tIns="18288" rIns="18288" bIns="18288" anchor="ctr">
            <a:noAutofit/>
          </a:bodyPr>
          <a:lstStyle/>
          <a:p>
            <a:pPr algn="l"/>
            <a:r>
              <a:rPr sz="1100" b="1" i="0">
                <a:solidFill>
                  <a:srgbClr val="0B2A4A"/>
                </a:solidFill>
                <a:latin typeface="Arial" panose="020B0604020202020204"/>
              </a:rPr>
              <a:t>NON-FUNCTIONAL</a:t>
            </a:r>
          </a:p>
        </p:txBody>
      </p:sp>
      <p:sp>
        <p:nvSpPr>
          <p:cNvPr id="17447" name="Rounded Rectangle 17446"/>
          <p:cNvSpPr/>
          <p:nvPr/>
        </p:nvSpPr>
        <p:spPr>
          <a:xfrm>
            <a:off x="8357616" y="3931920"/>
            <a:ext cx="1033271" cy="329184"/>
          </a:xfrm>
          <a:prstGeom prst="roundRect">
            <a:avLst>
              <a:gd name="adj" fmla="val 22222"/>
            </a:avLst>
          </a:prstGeom>
          <a:solidFill>
            <a:srgbClr val="FFFFFF"/>
          </a:solidFill>
          <a:ln w="12700">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100" b="0" i="0">
                <a:solidFill>
                  <a:srgbClr val="0B2A4A"/>
                </a:solidFill>
                <a:latin typeface="Arial" panose="020B0604020202020204"/>
              </a:rPr>
              <a:t>secure</a:t>
            </a:r>
          </a:p>
        </p:txBody>
      </p:sp>
      <p:sp>
        <p:nvSpPr>
          <p:cNvPr id="17448" name="Rounded Rectangle 17447"/>
          <p:cNvSpPr/>
          <p:nvPr/>
        </p:nvSpPr>
        <p:spPr>
          <a:xfrm>
            <a:off x="9445752" y="3931920"/>
            <a:ext cx="1033271" cy="329184"/>
          </a:xfrm>
          <a:prstGeom prst="roundRect">
            <a:avLst>
              <a:gd name="adj" fmla="val 22222"/>
            </a:avLst>
          </a:prstGeom>
          <a:solidFill>
            <a:srgbClr val="FFFFFF"/>
          </a:solidFill>
          <a:ln w="12700">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100" b="0" i="0">
                <a:solidFill>
                  <a:srgbClr val="0B2A4A"/>
                </a:solidFill>
                <a:latin typeface="Arial" panose="020B0604020202020204"/>
              </a:rPr>
              <a:t>scalable</a:t>
            </a:r>
          </a:p>
        </p:txBody>
      </p:sp>
      <p:sp>
        <p:nvSpPr>
          <p:cNvPr id="17449" name="Rounded Rectangle 17448"/>
          <p:cNvSpPr/>
          <p:nvPr/>
        </p:nvSpPr>
        <p:spPr>
          <a:xfrm>
            <a:off x="10533888" y="3931920"/>
            <a:ext cx="1033271" cy="329184"/>
          </a:xfrm>
          <a:prstGeom prst="roundRect">
            <a:avLst>
              <a:gd name="adj" fmla="val 22222"/>
            </a:avLst>
          </a:prstGeom>
          <a:solidFill>
            <a:srgbClr val="FFFFFF"/>
          </a:solidFill>
          <a:ln w="12700">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100" b="0" i="0">
                <a:solidFill>
                  <a:srgbClr val="0B2A4A"/>
                </a:solidFill>
                <a:latin typeface="Arial" panose="020B0604020202020204"/>
              </a:rPr>
              <a:t>explainable</a:t>
            </a:r>
          </a:p>
        </p:txBody>
      </p:sp>
      <p:sp>
        <p:nvSpPr>
          <p:cNvPr id="17450" name="Rounded Rectangle 17449"/>
          <p:cNvSpPr/>
          <p:nvPr/>
        </p:nvSpPr>
        <p:spPr>
          <a:xfrm>
            <a:off x="8357616" y="4315968"/>
            <a:ext cx="1033271" cy="329184"/>
          </a:xfrm>
          <a:prstGeom prst="roundRect">
            <a:avLst>
              <a:gd name="adj" fmla="val 22222"/>
            </a:avLst>
          </a:prstGeom>
          <a:solidFill>
            <a:srgbClr val="FFFFFF"/>
          </a:solidFill>
          <a:ln w="12700">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100" b="0" i="0">
                <a:solidFill>
                  <a:srgbClr val="0B2A4A"/>
                </a:solidFill>
                <a:latin typeface="Arial" panose="020B0604020202020204"/>
              </a:rPr>
              <a:t>auditable</a:t>
            </a:r>
          </a:p>
        </p:txBody>
      </p:sp>
      <p:sp>
        <p:nvSpPr>
          <p:cNvPr id="17451" name="Rounded Rectangle 17450"/>
          <p:cNvSpPr/>
          <p:nvPr/>
        </p:nvSpPr>
        <p:spPr>
          <a:xfrm>
            <a:off x="9445752" y="4315968"/>
            <a:ext cx="1033271" cy="329184"/>
          </a:xfrm>
          <a:prstGeom prst="roundRect">
            <a:avLst>
              <a:gd name="adj" fmla="val 22222"/>
            </a:avLst>
          </a:prstGeom>
          <a:solidFill>
            <a:srgbClr val="FFFFFF"/>
          </a:solidFill>
          <a:ln w="12700">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100" b="0" i="0">
                <a:solidFill>
                  <a:srgbClr val="0B2A4A"/>
                </a:solidFill>
                <a:latin typeface="Arial" panose="020B0604020202020204"/>
              </a:rPr>
              <a:t>responsive</a:t>
            </a:r>
          </a:p>
        </p:txBody>
      </p:sp>
      <p:sp>
        <p:nvSpPr>
          <p:cNvPr id="17452" name="Rounded Rectangle 17451"/>
          <p:cNvSpPr/>
          <p:nvPr/>
        </p:nvSpPr>
        <p:spPr>
          <a:xfrm>
            <a:off x="10533888" y="4315968"/>
            <a:ext cx="1033271" cy="329184"/>
          </a:xfrm>
          <a:prstGeom prst="roundRect">
            <a:avLst>
              <a:gd name="adj" fmla="val 22222"/>
            </a:avLst>
          </a:prstGeom>
          <a:solidFill>
            <a:srgbClr val="FFFFFF"/>
          </a:solidFill>
          <a:ln w="12700">
            <a:solidFill>
              <a:srgbClr val="0B2A4A"/>
            </a:solid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noAutofit/>
          </a:bodyPr>
          <a:lstStyle/>
          <a:p>
            <a:pPr algn="ctr"/>
            <a:r>
              <a:rPr sz="1100" b="0" i="0">
                <a:solidFill>
                  <a:srgbClr val="0B2A4A"/>
                </a:solidFill>
                <a:latin typeface="Arial" panose="020B0604020202020204"/>
              </a:rPr>
              <a:t>reliable</a:t>
            </a:r>
          </a:p>
        </p:txBody>
      </p:sp>
      <p:sp>
        <p:nvSpPr>
          <p:cNvPr id="17453" name="TextBox 17452"/>
          <p:cNvSpPr txBox="1"/>
          <p:nvPr/>
        </p:nvSpPr>
        <p:spPr>
          <a:xfrm>
            <a:off x="8357616" y="4754880"/>
            <a:ext cx="3264408" cy="237744"/>
          </a:xfrm>
          <a:prstGeom prst="rect">
            <a:avLst/>
          </a:prstGeom>
          <a:noFill/>
        </p:spPr>
        <p:txBody>
          <a:bodyPr wrap="square" lIns="18288" tIns="18288" rIns="18288" bIns="18288" anchor="ctr">
            <a:noAutofit/>
          </a:bodyPr>
          <a:lstStyle/>
          <a:p>
            <a:pPr algn="l"/>
            <a:r>
              <a:rPr sz="1100" b="1" i="0">
                <a:solidFill>
                  <a:srgbClr val="0B2A4A"/>
                </a:solidFill>
                <a:latin typeface="Arial" panose="020B0604020202020204"/>
              </a:rPr>
              <a:t>SECURITY</a:t>
            </a:r>
          </a:p>
        </p:txBody>
      </p:sp>
      <p:sp>
        <p:nvSpPr>
          <p:cNvPr id="17454" name="TextBox 17453"/>
          <p:cNvSpPr txBox="1"/>
          <p:nvPr/>
        </p:nvSpPr>
        <p:spPr>
          <a:xfrm>
            <a:off x="8357616" y="5010912"/>
            <a:ext cx="3264408" cy="960120"/>
          </a:xfrm>
          <a:prstGeom prst="rect">
            <a:avLst/>
          </a:prstGeom>
          <a:noFill/>
        </p:spPr>
        <p:txBody>
          <a:bodyPr wrap="square" lIns="18288" tIns="18288" rIns="18288" bIns="18288" anchor="t">
            <a:noAutofit/>
          </a:bodyPr>
          <a:lstStyle/>
          <a:p>
            <a:pPr marL="155575" indent="-155575" algn="l">
              <a:spcAft>
                <a:spcPts val="250"/>
              </a:spcAft>
              <a:buFont typeface="Arial" panose="020B0604020202020204"/>
              <a:buChar char="•"/>
            </a:pPr>
            <a:r>
              <a:rPr sz="1200" b="0" i="0">
                <a:solidFill>
                  <a:srgbClr val="1E293B"/>
                </a:solidFill>
                <a:latin typeface="Arial" panose="020B0604020202020204"/>
              </a:rPr>
              <a:t>backend-enforced RBAC</a:t>
            </a:r>
          </a:p>
          <a:p>
            <a:pPr marL="155575" indent="-155575" algn="l">
              <a:spcAft>
                <a:spcPts val="250"/>
              </a:spcAft>
              <a:buFont typeface="Arial" panose="020B0604020202020204"/>
              <a:buChar char="•"/>
            </a:pPr>
            <a:r>
              <a:rPr sz="1200" b="0" i="0">
                <a:solidFill>
                  <a:srgbClr val="1E293B"/>
                </a:solidFill>
                <a:latin typeface="Arial" panose="020B0604020202020204"/>
              </a:rPr>
              <a:t>state / district / project scoping</a:t>
            </a:r>
          </a:p>
          <a:p>
            <a:pPr marL="155575" indent="-155575" algn="l">
              <a:spcAft>
                <a:spcPts val="250"/>
              </a:spcAft>
              <a:buFont typeface="Arial" panose="020B0604020202020204"/>
              <a:buChar char="•"/>
            </a:pPr>
            <a:r>
              <a:rPr sz="1200" b="0" i="0">
                <a:solidFill>
                  <a:srgbClr val="1E293B"/>
                </a:solidFill>
                <a:latin typeface="Arial" panose="020B0604020202020204"/>
              </a:rPr>
              <a:t>authenticated sessions</a:t>
            </a:r>
          </a:p>
          <a:p>
            <a:pPr marL="155575" indent="-155575" algn="l">
              <a:spcAft>
                <a:spcPts val="250"/>
              </a:spcAft>
              <a:buFont typeface="Arial" panose="020B0604020202020204"/>
              <a:buChar char="•"/>
            </a:pPr>
            <a:r>
              <a:rPr sz="1200" b="0" i="0">
                <a:solidFill>
                  <a:srgbClr val="1E293B"/>
                </a:solidFill>
                <a:latin typeface="Arial" panose="020B0604020202020204"/>
              </a:rPr>
              <a:t>audit events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0" y="6354762"/>
            <a:ext cx="12191999" cy="503238"/>
          </a:xfrm>
          <a:prstGeom prst="rect">
            <a:avLst/>
          </a:prstGeom>
          <a:solidFill>
            <a:srgbClr val="0070C0"/>
          </a:solidFill>
          <a:ln w="9525">
            <a:noFill/>
            <a:miter lim="800000"/>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C0504D">
                  <a:lumMod val="75000"/>
                </a:srgbClr>
              </a:solidFill>
              <a:effectLst/>
              <a:uLnTx/>
              <a:uFillTx/>
              <a:latin typeface="Calibri" panose="020F0502020204030204"/>
              <a:ea typeface="MS PGothic" panose="020B0600070205080204" pitchFamily="1" charset="-128"/>
              <a:cs typeface="+mn-cs"/>
            </a:endParaRPr>
          </a:p>
        </p:txBody>
      </p:sp>
      <p:sp>
        <p:nvSpPr>
          <p:cNvPr id="17409" name="Title 1"/>
          <p:cNvSpPr>
            <a:spLocks noGrp="1"/>
          </p:cNvSpPr>
          <p:nvPr>
            <p:ph type="title"/>
          </p:nvPr>
        </p:nvSpPr>
        <p:spPr>
          <a:xfrm>
            <a:off x="1627632" y="36576"/>
            <a:ext cx="8092440" cy="1042415"/>
          </a:xfrm>
        </p:spPr>
        <p:txBody>
          <a:bodyPr wrap="square"/>
          <a:lstStyle/>
          <a:p>
            <a:pPr algn="ctr"/>
            <a:r>
              <a:rPr sz="1200" b="1">
                <a:solidFill>
                  <a:srgbClr val="0070C0"/>
                </a:solidFill>
                <a:latin typeface="Arial" panose="020B0604020202020204"/>
              </a:rPr>
              <a:t>IMPACT AND BENEFITS</a:t>
            </a:r>
          </a:p>
          <a:p>
            <a:pPr algn="ctr"/>
            <a:r>
              <a:rPr sz="2400" b="1">
                <a:solidFill>
                  <a:srgbClr val="0B2A4A"/>
                </a:solidFill>
                <a:latin typeface="Times New Roman" panose="02020603050405020304"/>
              </a:rPr>
              <a:t>FROM RISK TO ACCOUNTABLE ACTION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MS PGothic" panose="020B0600070205080204" pitchFamily="1" charset="-128"/>
                <a:cs typeface="+mn-cs"/>
              </a:rPr>
              <a:pPr marL="0" marR="0" lvl="0" indent="0" algn="r" defTabSz="457200" rtl="0" eaLnBrk="1" fontAlgn="base" latinLnBrk="0" hangingPunct="1">
                <a:lnSpc>
                  <a:spcPct val="100000"/>
                </a:lnSpc>
                <a:spcBef>
                  <a:spcPct val="0"/>
                </a:spcBef>
                <a:spcAft>
                  <a:spcPct val="0"/>
                </a:spcAft>
                <a:buClrTx/>
                <a:buSzTx/>
                <a:buFontTx/>
                <a:buNone/>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MS PGothic" panose="020B0600070205080204"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a:t>
            </a:r>
            <a:r>
              <a:rPr kumimoji="0" lang="en-US" sz="1200" b="0" i="0" u="none" strike="noStrike" kern="1200" cap="none" spc="0" normalizeH="0" baseline="0" noProof="0" dirty="0" smtClean="0">
                <a:ln>
                  <a:noFill/>
                </a:ln>
                <a:solidFill>
                  <a:prstClr val="white"/>
                </a:solidFill>
                <a:effectLst/>
                <a:uLnTx/>
                <a:uFillTx/>
                <a:latin typeface="TradeGothic"/>
                <a:ea typeface="+mn-ea"/>
                <a:cs typeface="+mn-cs"/>
              </a:rPr>
              <a:t>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18288" rIns="18288" rtlCol="0" anchor="ctr"/>
          <a:lstStyle/>
          <a:p>
            <a:pPr algn="ctr"/>
            <a:r>
              <a:rPr sz="1300" b="1">
                <a:solidFill>
                  <a:srgbClr val="0B2A4A"/>
                </a:solidFill>
                <a:latin typeface="Arial" panose="020B0604020202020204"/>
              </a:rPr>
              <a:t>Null Pointers</a:t>
            </a:r>
            <a:endParaRPr lang="en-IN" dirty="0"/>
          </a:p>
        </p:txBody>
      </p:sp>
      <p:pic>
        <p:nvPicPr>
          <p:cNvPr id="11" name="Picture 10"/>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365760" y="1207008"/>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1" name="Oval 17410"/>
          <p:cNvSpPr/>
          <p:nvPr/>
        </p:nvSpPr>
        <p:spPr>
          <a:xfrm>
            <a:off x="521208" y="1261872"/>
            <a:ext cx="347472" cy="347472"/>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12" name="Picture 17411" descr="gis_w.png"/>
          <p:cNvPicPr>
            <a:picLocks noChangeAspect="1"/>
          </p:cNvPicPr>
          <p:nvPr/>
        </p:nvPicPr>
        <p:blipFill>
          <a:blip r:embed="rId4"/>
          <a:stretch>
            <a:fillRect/>
          </a:stretch>
        </p:blipFill>
        <p:spPr>
          <a:xfrm>
            <a:off x="604601" y="1345265"/>
            <a:ext cx="180685" cy="180685"/>
          </a:xfrm>
          <a:prstGeom prst="rect">
            <a:avLst/>
          </a:prstGeom>
        </p:spPr>
      </p:pic>
      <p:sp>
        <p:nvSpPr>
          <p:cNvPr id="17413" name="TextBox 17412"/>
          <p:cNvSpPr txBox="1"/>
          <p:nvPr/>
        </p:nvSpPr>
        <p:spPr>
          <a:xfrm>
            <a:off x="1005840" y="1225296"/>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1  WAR ROOM</a:t>
            </a:r>
          </a:p>
          <a:p>
            <a:pPr algn="l"/>
            <a:r>
              <a:rPr sz="1050" b="0" i="1">
                <a:solidFill>
                  <a:srgbClr val="475569"/>
                </a:solidFill>
                <a:latin typeface="Arial" panose="020B0604020202020204"/>
              </a:rPr>
              <a:t>Which project first?</a:t>
            </a:r>
          </a:p>
        </p:txBody>
      </p:sp>
      <p:cxnSp>
        <p:nvCxnSpPr>
          <p:cNvPr id="17414" name="Connector 17413"/>
          <p:cNvCxnSpPr/>
          <p:nvPr/>
        </p:nvCxnSpPr>
        <p:spPr>
          <a:xfrm>
            <a:off x="694944" y="1664208"/>
            <a:ext cx="0" cy="146304"/>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15" name="Rounded Rectangle 17414"/>
          <p:cNvSpPr/>
          <p:nvPr/>
        </p:nvSpPr>
        <p:spPr>
          <a:xfrm>
            <a:off x="365760" y="1810512"/>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6" name="Oval 17415"/>
          <p:cNvSpPr/>
          <p:nvPr/>
        </p:nvSpPr>
        <p:spPr>
          <a:xfrm>
            <a:off x="521208" y="1865376"/>
            <a:ext cx="347472" cy="347472"/>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17" name="Picture 17416" descr="twin_w.png"/>
          <p:cNvPicPr>
            <a:picLocks noChangeAspect="1"/>
          </p:cNvPicPr>
          <p:nvPr/>
        </p:nvPicPr>
        <p:blipFill>
          <a:blip r:embed="rId5"/>
          <a:stretch>
            <a:fillRect/>
          </a:stretch>
        </p:blipFill>
        <p:spPr>
          <a:xfrm>
            <a:off x="604601" y="1948769"/>
            <a:ext cx="180685" cy="180685"/>
          </a:xfrm>
          <a:prstGeom prst="rect">
            <a:avLst/>
          </a:prstGeom>
        </p:spPr>
      </p:pic>
      <p:sp>
        <p:nvSpPr>
          <p:cNvPr id="17418" name="TextBox 17417"/>
          <p:cNvSpPr txBox="1"/>
          <p:nvPr/>
        </p:nvSpPr>
        <p:spPr>
          <a:xfrm>
            <a:off x="1005840" y="1828800"/>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2  PROCESS TWIN</a:t>
            </a:r>
          </a:p>
          <a:p>
            <a:pPr algn="l"/>
            <a:r>
              <a:rPr sz="1050" b="0" i="1">
                <a:solidFill>
                  <a:srgbClr val="475569"/>
                </a:solidFill>
                <a:latin typeface="Arial" panose="020B0604020202020204"/>
              </a:rPr>
              <a:t>Where is it blocked?</a:t>
            </a:r>
          </a:p>
        </p:txBody>
      </p:sp>
      <p:cxnSp>
        <p:nvCxnSpPr>
          <p:cNvPr id="17419" name="Connector 17418"/>
          <p:cNvCxnSpPr/>
          <p:nvPr/>
        </p:nvCxnSpPr>
        <p:spPr>
          <a:xfrm>
            <a:off x="694944" y="2267712"/>
            <a:ext cx="0" cy="146304"/>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365760" y="2414016"/>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21" name="Oval 17420"/>
          <p:cNvSpPr/>
          <p:nvPr/>
        </p:nvSpPr>
        <p:spPr>
          <a:xfrm>
            <a:off x="521208" y="2468880"/>
            <a:ext cx="347472" cy="347472"/>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22" name="Picture 17421" descr="chart_w.png"/>
          <p:cNvPicPr>
            <a:picLocks noChangeAspect="1"/>
          </p:cNvPicPr>
          <p:nvPr/>
        </p:nvPicPr>
        <p:blipFill>
          <a:blip r:embed="rId6"/>
          <a:stretch>
            <a:fillRect/>
          </a:stretch>
        </p:blipFill>
        <p:spPr>
          <a:xfrm>
            <a:off x="604601" y="2552273"/>
            <a:ext cx="180685" cy="180685"/>
          </a:xfrm>
          <a:prstGeom prst="rect">
            <a:avLst/>
          </a:prstGeom>
        </p:spPr>
      </p:pic>
      <p:sp>
        <p:nvSpPr>
          <p:cNvPr id="17423" name="TextBox 17422"/>
          <p:cNvSpPr txBox="1"/>
          <p:nvPr/>
        </p:nvSpPr>
        <p:spPr>
          <a:xfrm>
            <a:off x="1005840" y="2432304"/>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3  ACQUISITION INTELLIGENCE</a:t>
            </a:r>
          </a:p>
          <a:p>
            <a:pPr algn="l"/>
            <a:r>
              <a:rPr sz="1050" b="0" i="1">
                <a:solidFill>
                  <a:srgbClr val="475569"/>
                </a:solidFill>
                <a:latin typeface="Arial" panose="020B0604020202020204"/>
              </a:rPr>
              <a:t>How serious is it?</a:t>
            </a:r>
          </a:p>
        </p:txBody>
      </p:sp>
      <p:cxnSp>
        <p:nvCxnSpPr>
          <p:cNvPr id="17424" name="Connector 17423"/>
          <p:cNvCxnSpPr/>
          <p:nvPr/>
        </p:nvCxnSpPr>
        <p:spPr>
          <a:xfrm>
            <a:off x="694944" y="2871216"/>
            <a:ext cx="0" cy="146304"/>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5" name="Rounded Rectangle 17424"/>
          <p:cNvSpPr/>
          <p:nvPr/>
        </p:nvSpPr>
        <p:spPr>
          <a:xfrm>
            <a:off x="365760" y="3017520"/>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26" name="Oval 17425"/>
          <p:cNvSpPr/>
          <p:nvPr/>
        </p:nvSpPr>
        <p:spPr>
          <a:xfrm>
            <a:off x="521208" y="3072384"/>
            <a:ext cx="347472" cy="347472"/>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27" name="Picture 17426" descr="ai_w.png"/>
          <p:cNvPicPr>
            <a:picLocks noChangeAspect="1"/>
          </p:cNvPicPr>
          <p:nvPr/>
        </p:nvPicPr>
        <p:blipFill>
          <a:blip r:embed="rId7"/>
          <a:stretch>
            <a:fillRect/>
          </a:stretch>
        </p:blipFill>
        <p:spPr>
          <a:xfrm>
            <a:off x="604601" y="3155777"/>
            <a:ext cx="180685" cy="180685"/>
          </a:xfrm>
          <a:prstGeom prst="rect">
            <a:avLst/>
          </a:prstGeom>
        </p:spPr>
      </p:pic>
      <p:sp>
        <p:nvSpPr>
          <p:cNvPr id="17428" name="TextBox 17427"/>
          <p:cNvSpPr txBox="1"/>
          <p:nvPr/>
        </p:nvSpPr>
        <p:spPr>
          <a:xfrm>
            <a:off x="1005840" y="3035808"/>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4  PAIMANA + SHAP</a:t>
            </a:r>
          </a:p>
          <a:p>
            <a:pPr algn="l"/>
            <a:r>
              <a:rPr sz="1050" b="0" i="1">
                <a:solidFill>
                  <a:srgbClr val="475569"/>
                </a:solidFill>
                <a:latin typeface="Arial" panose="020B0604020202020204"/>
              </a:rPr>
              <a:t>What supporting evidence exists?</a:t>
            </a:r>
          </a:p>
        </p:txBody>
      </p:sp>
      <p:cxnSp>
        <p:nvCxnSpPr>
          <p:cNvPr id="17429" name="Connector 17428"/>
          <p:cNvCxnSpPr/>
          <p:nvPr/>
        </p:nvCxnSpPr>
        <p:spPr>
          <a:xfrm>
            <a:off x="694944" y="3474720"/>
            <a:ext cx="0" cy="146304"/>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30" name="Rounded Rectangle 17429"/>
          <p:cNvSpPr/>
          <p:nvPr/>
        </p:nvSpPr>
        <p:spPr>
          <a:xfrm>
            <a:off x="365760" y="3621024"/>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31" name="Oval 17430"/>
          <p:cNvSpPr/>
          <p:nvPr/>
        </p:nvSpPr>
        <p:spPr>
          <a:xfrm>
            <a:off x="521208" y="3675887"/>
            <a:ext cx="347472" cy="347472"/>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32" name="Picture 17431" descr="sliders_w.png"/>
          <p:cNvPicPr>
            <a:picLocks noChangeAspect="1"/>
          </p:cNvPicPr>
          <p:nvPr/>
        </p:nvPicPr>
        <p:blipFill>
          <a:blip r:embed="rId8"/>
          <a:stretch>
            <a:fillRect/>
          </a:stretch>
        </p:blipFill>
        <p:spPr>
          <a:xfrm>
            <a:off x="604601" y="3759281"/>
            <a:ext cx="180685" cy="180685"/>
          </a:xfrm>
          <a:prstGeom prst="rect">
            <a:avLst/>
          </a:prstGeom>
        </p:spPr>
      </p:pic>
      <p:sp>
        <p:nvSpPr>
          <p:cNvPr id="17433" name="TextBox 17432"/>
          <p:cNvSpPr txBox="1"/>
          <p:nvPr/>
        </p:nvSpPr>
        <p:spPr>
          <a:xfrm>
            <a:off x="1005840" y="3639312"/>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5  SCENARIO</a:t>
            </a:r>
          </a:p>
          <a:p>
            <a:pPr algn="l"/>
            <a:r>
              <a:rPr sz="1050" b="0" i="1">
                <a:solidFill>
                  <a:srgbClr val="475569"/>
                </a:solidFill>
                <a:latin typeface="Arial" panose="020B0604020202020204"/>
              </a:rPr>
              <a:t>What would the operational assessment look like if blockers were cleared?</a:t>
            </a:r>
          </a:p>
        </p:txBody>
      </p:sp>
      <p:cxnSp>
        <p:nvCxnSpPr>
          <p:cNvPr id="17434" name="Connector 17433"/>
          <p:cNvCxnSpPr/>
          <p:nvPr/>
        </p:nvCxnSpPr>
        <p:spPr>
          <a:xfrm>
            <a:off x="694944" y="4078224"/>
            <a:ext cx="0" cy="146304"/>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35" name="Rounded Rectangle 17434"/>
          <p:cNvSpPr/>
          <p:nvPr/>
        </p:nvSpPr>
        <p:spPr>
          <a:xfrm>
            <a:off x="365760" y="4224528"/>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36" name="Oval 17435"/>
          <p:cNvSpPr/>
          <p:nvPr/>
        </p:nvSpPr>
        <p:spPr>
          <a:xfrm>
            <a:off x="521208" y="4279392"/>
            <a:ext cx="347472" cy="347472"/>
          </a:xfrm>
          <a:prstGeom prst="ellips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37" name="Picture 17436" descr="ledger_w.png"/>
          <p:cNvPicPr>
            <a:picLocks noChangeAspect="1"/>
          </p:cNvPicPr>
          <p:nvPr/>
        </p:nvPicPr>
        <p:blipFill>
          <a:blip r:embed="rId9"/>
          <a:stretch>
            <a:fillRect/>
          </a:stretch>
        </p:blipFill>
        <p:spPr>
          <a:xfrm>
            <a:off x="604601" y="4362785"/>
            <a:ext cx="180685" cy="180685"/>
          </a:xfrm>
          <a:prstGeom prst="rect">
            <a:avLst/>
          </a:prstGeom>
        </p:spPr>
      </p:pic>
      <p:sp>
        <p:nvSpPr>
          <p:cNvPr id="17438" name="TextBox 17437"/>
          <p:cNvSpPr txBox="1"/>
          <p:nvPr/>
        </p:nvSpPr>
        <p:spPr>
          <a:xfrm>
            <a:off x="1005840" y="4242816"/>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6  INTERVENTION LEDGER</a:t>
            </a:r>
          </a:p>
          <a:p>
            <a:pPr algn="l"/>
            <a:r>
              <a:rPr sz="1050" b="0" i="1">
                <a:solidFill>
                  <a:srgbClr val="475569"/>
                </a:solidFill>
                <a:latin typeface="Arial" panose="020B0604020202020204"/>
              </a:rPr>
              <a:t>Who acts, by when?</a:t>
            </a:r>
          </a:p>
        </p:txBody>
      </p:sp>
      <p:cxnSp>
        <p:nvCxnSpPr>
          <p:cNvPr id="17439" name="Connector 17438"/>
          <p:cNvCxnSpPr/>
          <p:nvPr/>
        </p:nvCxnSpPr>
        <p:spPr>
          <a:xfrm>
            <a:off x="694944" y="4681728"/>
            <a:ext cx="0" cy="146304"/>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40" name="Rounded Rectangle 17439"/>
          <p:cNvSpPr/>
          <p:nvPr/>
        </p:nvSpPr>
        <p:spPr>
          <a:xfrm>
            <a:off x="365760" y="4828032"/>
            <a:ext cx="6080760" cy="457200"/>
          </a:xfrm>
          <a:prstGeom prst="roundRect">
            <a:avLst>
              <a:gd name="adj" fmla="val 18000"/>
            </a:avLst>
          </a:prstGeom>
          <a:solidFill>
            <a:srgbClr val="EEF3F9"/>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41" name="Oval 17440"/>
          <p:cNvSpPr/>
          <p:nvPr/>
        </p:nvSpPr>
        <p:spPr>
          <a:xfrm>
            <a:off x="521208" y="4882896"/>
            <a:ext cx="347472" cy="347472"/>
          </a:xfrm>
          <a:prstGeom prst="ellipse">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42" name="Picture 17441" descr="brief_w.png"/>
          <p:cNvPicPr>
            <a:picLocks noChangeAspect="1"/>
          </p:cNvPicPr>
          <p:nvPr/>
        </p:nvPicPr>
        <p:blipFill>
          <a:blip r:embed="rId10"/>
          <a:stretch>
            <a:fillRect/>
          </a:stretch>
        </p:blipFill>
        <p:spPr>
          <a:xfrm>
            <a:off x="604601" y="4966289"/>
            <a:ext cx="180685" cy="180685"/>
          </a:xfrm>
          <a:prstGeom prst="rect">
            <a:avLst/>
          </a:prstGeom>
        </p:spPr>
      </p:pic>
      <p:sp>
        <p:nvSpPr>
          <p:cNvPr id="17443" name="TextBox 17442"/>
          <p:cNvSpPr txBox="1"/>
          <p:nvPr/>
        </p:nvSpPr>
        <p:spPr>
          <a:xfrm>
            <a:off x="1005840" y="4846320"/>
            <a:ext cx="5349240" cy="420624"/>
          </a:xfrm>
          <a:prstGeom prst="rect">
            <a:avLst/>
          </a:prstGeom>
          <a:noFill/>
        </p:spPr>
        <p:txBody>
          <a:bodyPr wrap="square" lIns="18288" tIns="18288" rIns="18288" bIns="18288" anchor="ctr">
            <a:noAutofit/>
          </a:bodyPr>
          <a:lstStyle/>
          <a:p>
            <a:pPr algn="l"/>
            <a:r>
              <a:rPr sz="1200" b="1" i="0">
                <a:solidFill>
                  <a:srgbClr val="0B2A4A"/>
                </a:solidFill>
                <a:latin typeface="Arial" panose="020B0604020202020204"/>
              </a:rPr>
              <a:t>7  OFFICER BRIEF</a:t>
            </a:r>
          </a:p>
          <a:p>
            <a:pPr algn="l"/>
            <a:r>
              <a:rPr sz="1050" b="0" i="1">
                <a:solidFill>
                  <a:srgbClr val="475569"/>
                </a:solidFill>
                <a:latin typeface="Arial" panose="020B0604020202020204"/>
              </a:rPr>
              <a:t>What goes into the review meeting?</a:t>
            </a:r>
          </a:p>
        </p:txBody>
      </p:sp>
      <p:sp>
        <p:nvSpPr>
          <p:cNvPr id="17444" name="Sample card"/>
          <p:cNvSpPr/>
          <p:nvPr/>
        </p:nvSpPr>
        <p:spPr>
          <a:xfrm>
            <a:off x="6675120" y="1207008"/>
            <a:ext cx="5148072" cy="2395728"/>
          </a:xfrm>
          <a:prstGeom prst="roundRect">
            <a:avLst>
              <a:gd name="adj" fmla="val 3816"/>
            </a:avLst>
          </a:prstGeom>
          <a:solidFill>
            <a:srgbClr val="FFFFFF"/>
          </a:solidFill>
          <a:ln w="19050">
            <a:solidFill>
              <a:srgbClr val="0B2A4A"/>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45" name="TextBox 17444"/>
          <p:cNvSpPr txBox="1"/>
          <p:nvPr/>
        </p:nvSpPr>
        <p:spPr>
          <a:xfrm>
            <a:off x="6858000" y="1298448"/>
            <a:ext cx="3566160" cy="365760"/>
          </a:xfrm>
          <a:prstGeom prst="rect">
            <a:avLst/>
          </a:prstGeom>
          <a:noFill/>
        </p:spPr>
        <p:txBody>
          <a:bodyPr wrap="square" lIns="18288" tIns="18288" rIns="18288" bIns="18288" anchor="ctr">
            <a:noAutofit/>
          </a:bodyPr>
          <a:lstStyle/>
          <a:p>
            <a:pPr algn="l"/>
            <a:r>
              <a:rPr sz="1100" b="1" i="0">
                <a:solidFill>
                  <a:srgbClr val="64748B"/>
                </a:solidFill>
                <a:latin typeface="Arial" panose="020B0604020202020204"/>
              </a:rPr>
              <a:t>ACQUISITION DELAY RISK INDEX</a:t>
            </a:r>
          </a:p>
        </p:txBody>
      </p:sp>
      <p:sp>
        <p:nvSpPr>
          <p:cNvPr id="17446" name="Rounded Rectangle 17445"/>
          <p:cNvSpPr/>
          <p:nvPr/>
        </p:nvSpPr>
        <p:spPr>
          <a:xfrm>
            <a:off x="10680192" y="1316736"/>
            <a:ext cx="960120" cy="329184"/>
          </a:xfrm>
          <a:prstGeom prst="roundRect">
            <a:avLst>
              <a:gd name="adj" fmla="val 50000"/>
            </a:avLst>
          </a:prstGeom>
          <a:solidFill>
            <a:srgbClr val="D97706"/>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300" b="1" i="0">
                <a:solidFill>
                  <a:srgbClr val="FFFFFF"/>
                </a:solidFill>
                <a:latin typeface="Arial" panose="020B0604020202020204"/>
              </a:rPr>
              <a:t>HIGH</a:t>
            </a:r>
          </a:p>
        </p:txBody>
      </p:sp>
      <p:cxnSp>
        <p:nvCxnSpPr>
          <p:cNvPr id="17447" name="Connector 17446"/>
          <p:cNvCxnSpPr/>
          <p:nvPr/>
        </p:nvCxnSpPr>
        <p:spPr>
          <a:xfrm>
            <a:off x="6858000" y="1755648"/>
            <a:ext cx="4782312" cy="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7448" name="TextBox 17447"/>
          <p:cNvSpPr txBox="1"/>
          <p:nvPr/>
        </p:nvSpPr>
        <p:spPr>
          <a:xfrm>
            <a:off x="6858000" y="1847088"/>
            <a:ext cx="1463040" cy="457200"/>
          </a:xfrm>
          <a:prstGeom prst="rect">
            <a:avLst/>
          </a:prstGeom>
          <a:noFill/>
        </p:spPr>
        <p:txBody>
          <a:bodyPr wrap="square" lIns="18288" tIns="18288" rIns="18288" bIns="18288" anchor="ctr">
            <a:noAutofit/>
          </a:bodyPr>
          <a:lstStyle/>
          <a:p>
            <a:pPr algn="l"/>
            <a:r>
              <a:rPr sz="1050" b="1" i="0">
                <a:solidFill>
                  <a:srgbClr val="64748B"/>
                </a:solidFill>
                <a:latin typeface="Arial" panose="020B0604020202020204"/>
              </a:rPr>
              <a:t>Readiness</a:t>
            </a:r>
          </a:p>
        </p:txBody>
      </p:sp>
      <p:sp>
        <p:nvSpPr>
          <p:cNvPr id="17449" name="TextBox 17448"/>
          <p:cNvSpPr txBox="1"/>
          <p:nvPr/>
        </p:nvSpPr>
        <p:spPr>
          <a:xfrm>
            <a:off x="8275320" y="1810512"/>
            <a:ext cx="1554480" cy="512064"/>
          </a:xfrm>
          <a:prstGeom prst="rect">
            <a:avLst/>
          </a:prstGeom>
          <a:noFill/>
        </p:spPr>
        <p:txBody>
          <a:bodyPr wrap="square" lIns="18288" tIns="18288" rIns="18288" bIns="18288" anchor="ctr">
            <a:noAutofit/>
          </a:bodyPr>
          <a:lstStyle/>
          <a:p>
            <a:pPr algn="l"/>
            <a:r>
              <a:rPr sz="2400" b="1" i="0">
                <a:solidFill>
                  <a:srgbClr val="0B2A4A"/>
                </a:solidFill>
                <a:latin typeface="Arial" panose="020B0604020202020204"/>
              </a:rPr>
              <a:t>54</a:t>
            </a:r>
            <a:r>
              <a:rPr sz="1300" b="0" i="0">
                <a:solidFill>
                  <a:srgbClr val="475569"/>
                </a:solidFill>
                <a:latin typeface="Arial" panose="020B0604020202020204"/>
              </a:rPr>
              <a:t> / 100</a:t>
            </a:r>
          </a:p>
        </p:txBody>
      </p:sp>
      <p:sp>
        <p:nvSpPr>
          <p:cNvPr id="17450" name="Rounded Rectangle 17449"/>
          <p:cNvSpPr/>
          <p:nvPr/>
        </p:nvSpPr>
        <p:spPr>
          <a:xfrm>
            <a:off x="9875520" y="2011680"/>
            <a:ext cx="1764792" cy="128016"/>
          </a:xfrm>
          <a:prstGeom prst="roundRect">
            <a:avLst>
              <a:gd name="adj" fmla="val 50000"/>
            </a:avLst>
          </a:prstGeom>
          <a:solidFill>
            <a:srgbClr val="E2E8F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51" name="Rounded Rectangle 17450"/>
          <p:cNvSpPr/>
          <p:nvPr/>
        </p:nvSpPr>
        <p:spPr>
          <a:xfrm>
            <a:off x="9875520" y="2011680"/>
            <a:ext cx="952987" cy="128016"/>
          </a:xfrm>
          <a:prstGeom prst="roundRect">
            <a:avLst>
              <a:gd name="adj" fmla="val 50000"/>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52" name="TextBox 17451"/>
          <p:cNvSpPr txBox="1"/>
          <p:nvPr/>
        </p:nvSpPr>
        <p:spPr>
          <a:xfrm>
            <a:off x="6858000" y="2395728"/>
            <a:ext cx="1463040" cy="292608"/>
          </a:xfrm>
          <a:prstGeom prst="rect">
            <a:avLst/>
          </a:prstGeom>
          <a:noFill/>
        </p:spPr>
        <p:txBody>
          <a:bodyPr wrap="square" lIns="18288" tIns="18288" rIns="18288" bIns="18288" anchor="ctr">
            <a:noAutofit/>
          </a:bodyPr>
          <a:lstStyle/>
          <a:p>
            <a:pPr algn="l"/>
            <a:r>
              <a:rPr sz="1050" b="1" i="0">
                <a:solidFill>
                  <a:srgbClr val="64748B"/>
                </a:solidFill>
                <a:latin typeface="Arial" panose="020B0604020202020204"/>
              </a:rPr>
              <a:t>Primary Bottleneck</a:t>
            </a:r>
          </a:p>
        </p:txBody>
      </p:sp>
      <p:sp>
        <p:nvSpPr>
          <p:cNvPr id="17453" name="Rounded Rectangle 17452"/>
          <p:cNvSpPr/>
          <p:nvPr/>
        </p:nvSpPr>
        <p:spPr>
          <a:xfrm>
            <a:off x="8458200" y="2395728"/>
            <a:ext cx="1691640" cy="292608"/>
          </a:xfrm>
          <a:prstGeom prst="roundRect">
            <a:avLst>
              <a:gd name="adj" fmla="val 50000"/>
            </a:avLst>
          </a:prstGeom>
          <a:solidFill>
            <a:srgbClr val="FEF3C7"/>
          </a:solidFill>
          <a:ln w="12700">
            <a:solidFill>
              <a:srgbClr val="D9770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00" b="1" i="0">
                <a:solidFill>
                  <a:srgbClr val="92400E"/>
                </a:solidFill>
                <a:latin typeface="Arial" panose="020B0604020202020204"/>
              </a:rPr>
              <a:t>Possession Gap</a:t>
            </a:r>
          </a:p>
        </p:txBody>
      </p:sp>
      <p:sp>
        <p:nvSpPr>
          <p:cNvPr id="17454" name="TextBox 17453"/>
          <p:cNvSpPr txBox="1"/>
          <p:nvPr/>
        </p:nvSpPr>
        <p:spPr>
          <a:xfrm>
            <a:off x="6858000" y="2779776"/>
            <a:ext cx="1554480" cy="292608"/>
          </a:xfrm>
          <a:prstGeom prst="rect">
            <a:avLst/>
          </a:prstGeom>
          <a:noFill/>
        </p:spPr>
        <p:txBody>
          <a:bodyPr wrap="square" lIns="18288" tIns="18288" rIns="18288" bIns="18288" anchor="ctr">
            <a:noAutofit/>
          </a:bodyPr>
          <a:lstStyle/>
          <a:p>
            <a:pPr algn="l"/>
            <a:r>
              <a:rPr sz="1050" b="1" i="0">
                <a:solidFill>
                  <a:srgbClr val="64748B"/>
                </a:solidFill>
                <a:latin typeface="Arial" panose="020B0604020202020204"/>
              </a:rPr>
              <a:t>Schedule Evidence</a:t>
            </a:r>
          </a:p>
        </p:txBody>
      </p:sp>
      <p:sp>
        <p:nvSpPr>
          <p:cNvPr id="17455" name="Rounded Rectangle 17454"/>
          <p:cNvSpPr/>
          <p:nvPr/>
        </p:nvSpPr>
        <p:spPr>
          <a:xfrm>
            <a:off x="8458200" y="2779776"/>
            <a:ext cx="3200400" cy="292608"/>
          </a:xfrm>
          <a:prstGeom prst="roundRect">
            <a:avLst>
              <a:gd name="adj" fmla="val 50000"/>
            </a:avLst>
          </a:prstGeom>
          <a:solidFill>
            <a:srgbClr val="E3F3F4"/>
          </a:solidFill>
          <a:ln w="12700">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050" b="1" i="0">
                <a:solidFill>
                  <a:srgbClr val="0E7C86"/>
                </a:solidFill>
                <a:latin typeface="Arial" panose="020B0604020202020204"/>
              </a:rPr>
              <a:t>PAIMANA signal · shown separately</a:t>
            </a:r>
          </a:p>
        </p:txBody>
      </p:sp>
      <p:sp>
        <p:nvSpPr>
          <p:cNvPr id="17456" name="TextBox 17455"/>
          <p:cNvSpPr txBox="1"/>
          <p:nvPr/>
        </p:nvSpPr>
        <p:spPr>
          <a:xfrm>
            <a:off x="6858000" y="3163824"/>
            <a:ext cx="1463040" cy="310896"/>
          </a:xfrm>
          <a:prstGeom prst="rect">
            <a:avLst/>
          </a:prstGeom>
          <a:noFill/>
        </p:spPr>
        <p:txBody>
          <a:bodyPr wrap="square" lIns="18288" tIns="18288" rIns="18288" bIns="18288" anchor="ctr">
            <a:noAutofit/>
          </a:bodyPr>
          <a:lstStyle/>
          <a:p>
            <a:pPr algn="l"/>
            <a:r>
              <a:rPr sz="1050" b="1" i="0">
                <a:solidFill>
                  <a:srgbClr val="64748B"/>
                </a:solidFill>
                <a:latin typeface="Arial" panose="020B0604020202020204"/>
              </a:rPr>
              <a:t>Action</a:t>
            </a:r>
          </a:p>
        </p:txBody>
      </p:sp>
      <p:sp>
        <p:nvSpPr>
          <p:cNvPr id="17457" name="Rounded Rectangle 17456"/>
          <p:cNvSpPr/>
          <p:nvPr/>
        </p:nvSpPr>
        <p:spPr>
          <a:xfrm>
            <a:off x="8458200" y="3163824"/>
            <a:ext cx="1783080" cy="310896"/>
          </a:xfrm>
          <a:prstGeom prst="roundRect">
            <a:avLst>
              <a:gd name="adj" fmla="val 50000"/>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100" b="1" i="0">
                <a:solidFill>
                  <a:srgbClr val="FFFFFF"/>
                </a:solidFill>
                <a:latin typeface="Arial" panose="020B0604020202020204"/>
              </a:rPr>
              <a:t>Assign intervention</a:t>
            </a:r>
          </a:p>
        </p:txBody>
      </p:sp>
      <p:sp>
        <p:nvSpPr>
          <p:cNvPr id="17458" name="TextBox 17457"/>
          <p:cNvSpPr txBox="1"/>
          <p:nvPr/>
        </p:nvSpPr>
        <p:spPr>
          <a:xfrm>
            <a:off x="10332720" y="3108960"/>
            <a:ext cx="1371600" cy="402336"/>
          </a:xfrm>
          <a:prstGeom prst="rect">
            <a:avLst/>
          </a:prstGeom>
          <a:noFill/>
        </p:spPr>
        <p:txBody>
          <a:bodyPr wrap="square" lIns="18288" tIns="18288" rIns="18288" bIns="18288" anchor="ctr">
            <a:noAutofit/>
          </a:bodyPr>
          <a:lstStyle/>
          <a:p>
            <a:pPr algn="r"/>
            <a:r>
              <a:rPr sz="950" b="0" i="1">
                <a:solidFill>
                  <a:srgbClr val="64748B"/>
                </a:solidFill>
                <a:latin typeface="Arial" panose="020B0604020202020204"/>
              </a:rPr>
              <a:t>Illustrative demo data</a:t>
            </a:r>
          </a:p>
        </p:txBody>
      </p:sp>
      <p:sp>
        <p:nvSpPr>
          <p:cNvPr id="17459" name="Rounded Rectangle 17458"/>
          <p:cNvSpPr/>
          <p:nvPr/>
        </p:nvSpPr>
        <p:spPr>
          <a:xfrm>
            <a:off x="6675120" y="3767328"/>
            <a:ext cx="1655063" cy="786384"/>
          </a:xfrm>
          <a:prstGeom prst="roundRect">
            <a:avLst>
              <a:gd name="adj" fmla="val 10465"/>
            </a:avLst>
          </a:prstGeom>
          <a:solidFill>
            <a:srgbClr val="FFFFFF"/>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60" name="Oval 17459"/>
          <p:cNvSpPr/>
          <p:nvPr/>
        </p:nvSpPr>
        <p:spPr>
          <a:xfrm>
            <a:off x="7347204" y="3831336"/>
            <a:ext cx="310896" cy="310896"/>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61" name="Picture 17460" descr="bolt_w.png"/>
          <p:cNvPicPr>
            <a:picLocks noChangeAspect="1"/>
          </p:cNvPicPr>
          <p:nvPr/>
        </p:nvPicPr>
        <p:blipFill>
          <a:blip r:embed="rId11"/>
          <a:stretch>
            <a:fillRect/>
          </a:stretch>
        </p:blipFill>
        <p:spPr>
          <a:xfrm>
            <a:off x="7421819" y="3905951"/>
            <a:ext cx="161665" cy="161665"/>
          </a:xfrm>
          <a:prstGeom prst="rect">
            <a:avLst/>
          </a:prstGeom>
        </p:spPr>
      </p:pic>
      <p:sp>
        <p:nvSpPr>
          <p:cNvPr id="17462" name="TextBox 17461"/>
          <p:cNvSpPr txBox="1"/>
          <p:nvPr/>
        </p:nvSpPr>
        <p:spPr>
          <a:xfrm>
            <a:off x="6711696" y="4178808"/>
            <a:ext cx="1581911" cy="365760"/>
          </a:xfrm>
          <a:prstGeom prst="rect">
            <a:avLst/>
          </a:prstGeom>
          <a:noFill/>
        </p:spPr>
        <p:txBody>
          <a:bodyPr wrap="square" lIns="0" tIns="0" rIns="0" bIns="0" anchor="ctr">
            <a:noAutofit/>
          </a:bodyPr>
          <a:lstStyle/>
          <a:p>
            <a:pPr algn="ctr"/>
            <a:r>
              <a:rPr sz="1050" b="1" i="0">
                <a:solidFill>
                  <a:srgbClr val="0B2A4A"/>
                </a:solidFill>
                <a:latin typeface="Arial" panose="020B0604020202020204"/>
              </a:rPr>
              <a:t>Acquisition-aware priority</a:t>
            </a:r>
          </a:p>
        </p:txBody>
      </p:sp>
      <p:sp>
        <p:nvSpPr>
          <p:cNvPr id="17463" name="Rounded Rectangle 17462"/>
          <p:cNvSpPr/>
          <p:nvPr/>
        </p:nvSpPr>
        <p:spPr>
          <a:xfrm>
            <a:off x="8421624" y="3767328"/>
            <a:ext cx="1655063" cy="786384"/>
          </a:xfrm>
          <a:prstGeom prst="roundRect">
            <a:avLst>
              <a:gd name="adj" fmla="val 10465"/>
            </a:avLst>
          </a:prstGeom>
          <a:solidFill>
            <a:srgbClr val="FFFFFF"/>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64" name="Oval 17463"/>
          <p:cNvSpPr/>
          <p:nvPr/>
        </p:nvSpPr>
        <p:spPr>
          <a:xfrm>
            <a:off x="9093707" y="3831336"/>
            <a:ext cx="310896" cy="310896"/>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65" name="Picture 17464" descr="twin_w.png"/>
          <p:cNvPicPr>
            <a:picLocks noChangeAspect="1"/>
          </p:cNvPicPr>
          <p:nvPr/>
        </p:nvPicPr>
        <p:blipFill>
          <a:blip r:embed="rId5"/>
          <a:stretch>
            <a:fillRect/>
          </a:stretch>
        </p:blipFill>
        <p:spPr>
          <a:xfrm>
            <a:off x="9168323" y="3905951"/>
            <a:ext cx="161665" cy="161665"/>
          </a:xfrm>
          <a:prstGeom prst="rect">
            <a:avLst/>
          </a:prstGeom>
        </p:spPr>
      </p:pic>
      <p:sp>
        <p:nvSpPr>
          <p:cNvPr id="17466" name="TextBox 17465"/>
          <p:cNvSpPr txBox="1"/>
          <p:nvPr/>
        </p:nvSpPr>
        <p:spPr>
          <a:xfrm>
            <a:off x="8458199" y="4178808"/>
            <a:ext cx="1581911" cy="365760"/>
          </a:xfrm>
          <a:prstGeom prst="rect">
            <a:avLst/>
          </a:prstGeom>
          <a:noFill/>
        </p:spPr>
        <p:txBody>
          <a:bodyPr wrap="square" lIns="0" tIns="0" rIns="0" bIns="0" anchor="ctr">
            <a:noAutofit/>
          </a:bodyPr>
          <a:lstStyle/>
          <a:p>
            <a:pPr algn="ctr"/>
            <a:r>
              <a:rPr sz="1050" b="1" i="0">
                <a:solidFill>
                  <a:srgbClr val="0B2A4A"/>
                </a:solidFill>
                <a:latin typeface="Arial" panose="020B0604020202020204"/>
              </a:rPr>
              <a:t>Process Twin</a:t>
            </a:r>
          </a:p>
        </p:txBody>
      </p:sp>
      <p:sp>
        <p:nvSpPr>
          <p:cNvPr id="17467" name="Rounded Rectangle 17466"/>
          <p:cNvSpPr/>
          <p:nvPr/>
        </p:nvSpPr>
        <p:spPr>
          <a:xfrm>
            <a:off x="10168128" y="3767328"/>
            <a:ext cx="1655063" cy="786384"/>
          </a:xfrm>
          <a:prstGeom prst="roundRect">
            <a:avLst>
              <a:gd name="adj" fmla="val 10465"/>
            </a:avLst>
          </a:prstGeom>
          <a:solidFill>
            <a:srgbClr val="FFFFFF"/>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68" name="Oval 17467"/>
          <p:cNvSpPr/>
          <p:nvPr/>
        </p:nvSpPr>
        <p:spPr>
          <a:xfrm>
            <a:off x="10840211" y="3831336"/>
            <a:ext cx="310896" cy="310896"/>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69" name="Picture 17468" descr="ai_w.png"/>
          <p:cNvPicPr>
            <a:picLocks noChangeAspect="1"/>
          </p:cNvPicPr>
          <p:nvPr/>
        </p:nvPicPr>
        <p:blipFill>
          <a:blip r:embed="rId7"/>
          <a:stretch>
            <a:fillRect/>
          </a:stretch>
        </p:blipFill>
        <p:spPr>
          <a:xfrm>
            <a:off x="10914827" y="3905951"/>
            <a:ext cx="161665" cy="161665"/>
          </a:xfrm>
          <a:prstGeom prst="rect">
            <a:avLst/>
          </a:prstGeom>
        </p:spPr>
      </p:pic>
      <p:sp>
        <p:nvSpPr>
          <p:cNvPr id="17470" name="TextBox 17469"/>
          <p:cNvSpPr txBox="1"/>
          <p:nvPr/>
        </p:nvSpPr>
        <p:spPr>
          <a:xfrm>
            <a:off x="10204703" y="4178808"/>
            <a:ext cx="1581911" cy="365760"/>
          </a:xfrm>
          <a:prstGeom prst="rect">
            <a:avLst/>
          </a:prstGeom>
          <a:noFill/>
        </p:spPr>
        <p:txBody>
          <a:bodyPr wrap="square" lIns="0" tIns="0" rIns="0" bIns="0" anchor="ctr">
            <a:noAutofit/>
          </a:bodyPr>
          <a:lstStyle/>
          <a:p>
            <a:pPr algn="ctr"/>
            <a:r>
              <a:rPr sz="1050" b="1" i="0">
                <a:solidFill>
                  <a:srgbClr val="0B2A4A"/>
                </a:solidFill>
                <a:latin typeface="Arial" panose="020B0604020202020204"/>
              </a:rPr>
              <a:t>SHAP + historical analogues</a:t>
            </a:r>
          </a:p>
        </p:txBody>
      </p:sp>
      <p:sp>
        <p:nvSpPr>
          <p:cNvPr id="17471" name="Rounded Rectangle 17470"/>
          <p:cNvSpPr/>
          <p:nvPr/>
        </p:nvSpPr>
        <p:spPr>
          <a:xfrm>
            <a:off x="6675120" y="4663440"/>
            <a:ext cx="1655063" cy="786384"/>
          </a:xfrm>
          <a:prstGeom prst="roundRect">
            <a:avLst>
              <a:gd name="adj" fmla="val 10465"/>
            </a:avLst>
          </a:prstGeom>
          <a:solidFill>
            <a:srgbClr val="FFFFFF"/>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72" name="Oval 17471"/>
          <p:cNvSpPr/>
          <p:nvPr/>
        </p:nvSpPr>
        <p:spPr>
          <a:xfrm>
            <a:off x="7347204" y="4727448"/>
            <a:ext cx="310896" cy="310896"/>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73" name="Picture 17472" descr="gis_w.png"/>
          <p:cNvPicPr>
            <a:picLocks noChangeAspect="1"/>
          </p:cNvPicPr>
          <p:nvPr/>
        </p:nvPicPr>
        <p:blipFill>
          <a:blip r:embed="rId4"/>
          <a:stretch>
            <a:fillRect/>
          </a:stretch>
        </p:blipFill>
        <p:spPr>
          <a:xfrm>
            <a:off x="7421819" y="4802063"/>
            <a:ext cx="161665" cy="161665"/>
          </a:xfrm>
          <a:prstGeom prst="rect">
            <a:avLst/>
          </a:prstGeom>
        </p:spPr>
      </p:pic>
      <p:sp>
        <p:nvSpPr>
          <p:cNvPr id="17474" name="TextBox 17473"/>
          <p:cNvSpPr txBox="1"/>
          <p:nvPr/>
        </p:nvSpPr>
        <p:spPr>
          <a:xfrm>
            <a:off x="6711696" y="5074920"/>
            <a:ext cx="1581911" cy="365760"/>
          </a:xfrm>
          <a:prstGeom prst="rect">
            <a:avLst/>
          </a:prstGeom>
          <a:noFill/>
        </p:spPr>
        <p:txBody>
          <a:bodyPr wrap="square" lIns="0" tIns="0" rIns="0" bIns="0" anchor="ctr">
            <a:noAutofit/>
          </a:bodyPr>
          <a:lstStyle/>
          <a:p>
            <a:pPr algn="ctr"/>
            <a:r>
              <a:rPr sz="1050" b="1" i="0">
                <a:solidFill>
                  <a:srgbClr val="0B2A4A"/>
                </a:solidFill>
                <a:latin typeface="Arial" panose="020B0604020202020204"/>
              </a:rPr>
              <a:t>Predictive GIS</a:t>
            </a:r>
          </a:p>
        </p:txBody>
      </p:sp>
      <p:sp>
        <p:nvSpPr>
          <p:cNvPr id="17475" name="Rounded Rectangle 17474"/>
          <p:cNvSpPr/>
          <p:nvPr/>
        </p:nvSpPr>
        <p:spPr>
          <a:xfrm>
            <a:off x="8421624" y="4663440"/>
            <a:ext cx="1655063" cy="786384"/>
          </a:xfrm>
          <a:prstGeom prst="roundRect">
            <a:avLst>
              <a:gd name="adj" fmla="val 10465"/>
            </a:avLst>
          </a:prstGeom>
          <a:solidFill>
            <a:srgbClr val="FFFFFF"/>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76" name="Oval 17475"/>
          <p:cNvSpPr/>
          <p:nvPr/>
        </p:nvSpPr>
        <p:spPr>
          <a:xfrm>
            <a:off x="9093707" y="4727448"/>
            <a:ext cx="310896" cy="310896"/>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77" name="Picture 17476" descr="tasks_w.png"/>
          <p:cNvPicPr>
            <a:picLocks noChangeAspect="1"/>
          </p:cNvPicPr>
          <p:nvPr/>
        </p:nvPicPr>
        <p:blipFill>
          <a:blip r:embed="rId12"/>
          <a:stretch>
            <a:fillRect/>
          </a:stretch>
        </p:blipFill>
        <p:spPr>
          <a:xfrm>
            <a:off x="9168323" y="4802063"/>
            <a:ext cx="161665" cy="161665"/>
          </a:xfrm>
          <a:prstGeom prst="rect">
            <a:avLst/>
          </a:prstGeom>
        </p:spPr>
      </p:pic>
      <p:sp>
        <p:nvSpPr>
          <p:cNvPr id="17478" name="TextBox 17477"/>
          <p:cNvSpPr txBox="1"/>
          <p:nvPr/>
        </p:nvSpPr>
        <p:spPr>
          <a:xfrm>
            <a:off x="8458199" y="5074920"/>
            <a:ext cx="1581911" cy="365760"/>
          </a:xfrm>
          <a:prstGeom prst="rect">
            <a:avLst/>
          </a:prstGeom>
          <a:noFill/>
        </p:spPr>
        <p:txBody>
          <a:bodyPr wrap="square" lIns="0" tIns="0" rIns="0" bIns="0" anchor="ctr">
            <a:noAutofit/>
          </a:bodyPr>
          <a:lstStyle/>
          <a:p>
            <a:pPr algn="ctr"/>
            <a:r>
              <a:rPr sz="1050" b="1" i="0">
                <a:solidFill>
                  <a:srgbClr val="0B2A4A"/>
                </a:solidFill>
                <a:latin typeface="Arial" panose="020B0604020202020204"/>
              </a:rPr>
              <a:t>Tracked interventions</a:t>
            </a:r>
          </a:p>
        </p:txBody>
      </p:sp>
      <p:sp>
        <p:nvSpPr>
          <p:cNvPr id="17479" name="Rounded Rectangle 17478"/>
          <p:cNvSpPr/>
          <p:nvPr/>
        </p:nvSpPr>
        <p:spPr>
          <a:xfrm>
            <a:off x="10168128" y="4663440"/>
            <a:ext cx="1655063" cy="786384"/>
          </a:xfrm>
          <a:prstGeom prst="roundRect">
            <a:avLst>
              <a:gd name="adj" fmla="val 10465"/>
            </a:avLst>
          </a:prstGeom>
          <a:solidFill>
            <a:srgbClr val="FFFFFF"/>
          </a:solidFill>
          <a:ln w="12700">
            <a:solidFill>
              <a:srgbClr val="CBD5E1"/>
            </a:solid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80" name="Oval 17479"/>
          <p:cNvSpPr/>
          <p:nvPr/>
        </p:nvSpPr>
        <p:spPr>
          <a:xfrm>
            <a:off x="10840211" y="4727448"/>
            <a:ext cx="310896" cy="310896"/>
          </a:xfrm>
          <a:prstGeom prst="ellipse">
            <a:avLst/>
          </a:prstGeom>
          <a:solidFill>
            <a:srgbClr val="1F4E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81" name="Picture 17480" descr="brief_w.png"/>
          <p:cNvPicPr>
            <a:picLocks noChangeAspect="1"/>
          </p:cNvPicPr>
          <p:nvPr/>
        </p:nvPicPr>
        <p:blipFill>
          <a:blip r:embed="rId10"/>
          <a:stretch>
            <a:fillRect/>
          </a:stretch>
        </p:blipFill>
        <p:spPr>
          <a:xfrm>
            <a:off x="10914827" y="4802063"/>
            <a:ext cx="161665" cy="161665"/>
          </a:xfrm>
          <a:prstGeom prst="rect">
            <a:avLst/>
          </a:prstGeom>
        </p:spPr>
      </p:pic>
      <p:sp>
        <p:nvSpPr>
          <p:cNvPr id="17482" name="TextBox 17481"/>
          <p:cNvSpPr txBox="1"/>
          <p:nvPr/>
        </p:nvSpPr>
        <p:spPr>
          <a:xfrm>
            <a:off x="10204703" y="5074920"/>
            <a:ext cx="1581911" cy="365760"/>
          </a:xfrm>
          <a:prstGeom prst="rect">
            <a:avLst/>
          </a:prstGeom>
          <a:noFill/>
        </p:spPr>
        <p:txBody>
          <a:bodyPr wrap="square" lIns="0" tIns="0" rIns="0" bIns="0" anchor="ctr">
            <a:noAutofit/>
          </a:bodyPr>
          <a:lstStyle/>
          <a:p>
            <a:pPr algn="ctr"/>
            <a:r>
              <a:rPr sz="1050" b="1" i="0">
                <a:solidFill>
                  <a:srgbClr val="0B2A4A"/>
                </a:solidFill>
                <a:latin typeface="Arial" panose="020B0604020202020204"/>
              </a:rPr>
              <a:t>Officer Brief</a:t>
            </a:r>
          </a:p>
        </p:txBody>
      </p:sp>
      <p:sp>
        <p:nvSpPr>
          <p:cNvPr id="17483" name="Rounded Rectangle 17482"/>
          <p:cNvSpPr/>
          <p:nvPr/>
        </p:nvSpPr>
        <p:spPr>
          <a:xfrm>
            <a:off x="365760" y="5577840"/>
            <a:ext cx="914400" cy="548640"/>
          </a:xfrm>
          <a:prstGeom prst="roundRect">
            <a:avLst>
              <a:gd name="adj" fmla="val 16666"/>
            </a:avLst>
          </a:prstGeom>
          <a:solidFill>
            <a:srgbClr val="1F7A4D"/>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Arial" panose="020B0604020202020204"/>
              </a:rPr>
              <a:t>IMPACT</a:t>
            </a:r>
          </a:p>
        </p:txBody>
      </p:sp>
      <p:sp>
        <p:nvSpPr>
          <p:cNvPr id="17484" name="Rounded Rectangle 17483"/>
          <p:cNvSpPr/>
          <p:nvPr/>
        </p:nvSpPr>
        <p:spPr>
          <a:xfrm>
            <a:off x="1371600" y="5577840"/>
            <a:ext cx="1680971" cy="548640"/>
          </a:xfrm>
          <a:prstGeom prst="roundRect">
            <a:avLst>
              <a:gd name="adj" fmla="val 16666"/>
            </a:avLst>
          </a:prstGeom>
          <a:solidFill>
            <a:srgbClr val="E6F4EC"/>
          </a:solidFill>
          <a:ln w="12700">
            <a:solidFill>
              <a:srgbClr val="1F7A4D"/>
            </a:solidFill>
          </a:ln>
          <a:effectLst/>
        </p:spPr>
        <p:style>
          <a:lnRef idx="1">
            <a:schemeClr val="accent1"/>
          </a:lnRef>
          <a:fillRef idx="3">
            <a:schemeClr val="accent1"/>
          </a:fillRef>
          <a:effectRef idx="0">
            <a:schemeClr val="accent1"/>
          </a:effectRef>
          <a:fontRef idx="minor">
            <a:schemeClr val="lt1"/>
          </a:fontRef>
        </p:style>
        <p:txBody>
          <a:bodyPr wrap="square" lIns="45720" tIns="18288" rIns="45720" bIns="18288" rtlCol="0" anchor="ctr">
            <a:noAutofit/>
          </a:bodyPr>
          <a:lstStyle/>
          <a:p>
            <a:pPr algn="ctr"/>
            <a:r>
              <a:rPr sz="1050" b="1" i="0">
                <a:solidFill>
                  <a:srgbClr val="0B2A4A"/>
                </a:solidFill>
                <a:latin typeface="Arial" panose="020B0604020202020204"/>
              </a:rPr>
              <a:t>earlier visibility of bottlenecks</a:t>
            </a:r>
          </a:p>
        </p:txBody>
      </p:sp>
      <p:sp>
        <p:nvSpPr>
          <p:cNvPr id="17485" name="Rounded Rectangle 17484"/>
          <p:cNvSpPr/>
          <p:nvPr/>
        </p:nvSpPr>
        <p:spPr>
          <a:xfrm>
            <a:off x="3125723" y="5577840"/>
            <a:ext cx="1680971" cy="548640"/>
          </a:xfrm>
          <a:prstGeom prst="roundRect">
            <a:avLst>
              <a:gd name="adj" fmla="val 16666"/>
            </a:avLst>
          </a:prstGeom>
          <a:solidFill>
            <a:srgbClr val="E6F4EC"/>
          </a:solidFill>
          <a:ln w="12700">
            <a:solidFill>
              <a:srgbClr val="1F7A4D"/>
            </a:solidFill>
          </a:ln>
          <a:effectLst/>
        </p:spPr>
        <p:style>
          <a:lnRef idx="1">
            <a:schemeClr val="accent1"/>
          </a:lnRef>
          <a:fillRef idx="3">
            <a:schemeClr val="accent1"/>
          </a:fillRef>
          <a:effectRef idx="0">
            <a:schemeClr val="accent1"/>
          </a:effectRef>
          <a:fontRef idx="minor">
            <a:schemeClr val="lt1"/>
          </a:fontRef>
        </p:style>
        <p:txBody>
          <a:bodyPr wrap="square" lIns="45720" tIns="18288" rIns="45720" bIns="18288" rtlCol="0" anchor="ctr">
            <a:noAutofit/>
          </a:bodyPr>
          <a:lstStyle/>
          <a:p>
            <a:pPr algn="ctr"/>
            <a:r>
              <a:rPr sz="1050" b="1" i="0">
                <a:solidFill>
                  <a:srgbClr val="0B2A4A"/>
                </a:solidFill>
                <a:latin typeface="Arial" panose="020B0604020202020204"/>
              </a:rPr>
              <a:t>prioritised officer attention</a:t>
            </a:r>
          </a:p>
        </p:txBody>
      </p:sp>
      <p:sp>
        <p:nvSpPr>
          <p:cNvPr id="17486" name="Rounded Rectangle 17485"/>
          <p:cNvSpPr/>
          <p:nvPr/>
        </p:nvSpPr>
        <p:spPr>
          <a:xfrm>
            <a:off x="4879847" y="5577840"/>
            <a:ext cx="1680971" cy="548640"/>
          </a:xfrm>
          <a:prstGeom prst="roundRect">
            <a:avLst>
              <a:gd name="adj" fmla="val 16666"/>
            </a:avLst>
          </a:prstGeom>
          <a:solidFill>
            <a:srgbClr val="E6F4EC"/>
          </a:solidFill>
          <a:ln w="12700">
            <a:solidFill>
              <a:srgbClr val="1F7A4D"/>
            </a:solidFill>
          </a:ln>
          <a:effectLst/>
        </p:spPr>
        <p:style>
          <a:lnRef idx="1">
            <a:schemeClr val="accent1"/>
          </a:lnRef>
          <a:fillRef idx="3">
            <a:schemeClr val="accent1"/>
          </a:fillRef>
          <a:effectRef idx="0">
            <a:schemeClr val="accent1"/>
          </a:effectRef>
          <a:fontRef idx="minor">
            <a:schemeClr val="lt1"/>
          </a:fontRef>
        </p:style>
        <p:txBody>
          <a:bodyPr wrap="square" lIns="45720" tIns="18288" rIns="45720" bIns="18288" rtlCol="0" anchor="ctr">
            <a:noAutofit/>
          </a:bodyPr>
          <a:lstStyle/>
          <a:p>
            <a:pPr algn="ctr"/>
            <a:r>
              <a:rPr sz="1050" b="1" i="0">
                <a:solidFill>
                  <a:srgbClr val="0B2A4A"/>
                </a:solidFill>
                <a:latin typeface="Arial" panose="020B0604020202020204"/>
              </a:rPr>
              <a:t>clearer escalation</a:t>
            </a:r>
          </a:p>
        </p:txBody>
      </p:sp>
      <p:sp>
        <p:nvSpPr>
          <p:cNvPr id="17487" name="Rounded Rectangle 17486"/>
          <p:cNvSpPr/>
          <p:nvPr/>
        </p:nvSpPr>
        <p:spPr>
          <a:xfrm>
            <a:off x="6633972" y="5577840"/>
            <a:ext cx="1680971" cy="548640"/>
          </a:xfrm>
          <a:prstGeom prst="roundRect">
            <a:avLst>
              <a:gd name="adj" fmla="val 16666"/>
            </a:avLst>
          </a:prstGeom>
          <a:solidFill>
            <a:srgbClr val="E6F4EC"/>
          </a:solidFill>
          <a:ln w="12700">
            <a:solidFill>
              <a:srgbClr val="1F7A4D"/>
            </a:solidFill>
          </a:ln>
          <a:effectLst/>
        </p:spPr>
        <p:style>
          <a:lnRef idx="1">
            <a:schemeClr val="accent1"/>
          </a:lnRef>
          <a:fillRef idx="3">
            <a:schemeClr val="accent1"/>
          </a:fillRef>
          <a:effectRef idx="0">
            <a:schemeClr val="accent1"/>
          </a:effectRef>
          <a:fontRef idx="minor">
            <a:schemeClr val="lt1"/>
          </a:fontRef>
        </p:style>
        <p:txBody>
          <a:bodyPr wrap="square" lIns="45720" tIns="18288" rIns="45720" bIns="18288" rtlCol="0" anchor="ctr">
            <a:noAutofit/>
          </a:bodyPr>
          <a:lstStyle/>
          <a:p>
            <a:pPr algn="ctr"/>
            <a:r>
              <a:rPr sz="1050" b="1" i="0">
                <a:solidFill>
                  <a:srgbClr val="0B2A4A"/>
                </a:solidFill>
                <a:latin typeface="Arial" panose="020B0604020202020204"/>
              </a:rPr>
              <a:t>stronger accountability</a:t>
            </a:r>
          </a:p>
        </p:txBody>
      </p:sp>
      <p:sp>
        <p:nvSpPr>
          <p:cNvPr id="17488" name="Rounded Rectangle 17487"/>
          <p:cNvSpPr/>
          <p:nvPr/>
        </p:nvSpPr>
        <p:spPr>
          <a:xfrm>
            <a:off x="8388095" y="5577840"/>
            <a:ext cx="1680971" cy="548640"/>
          </a:xfrm>
          <a:prstGeom prst="roundRect">
            <a:avLst>
              <a:gd name="adj" fmla="val 16666"/>
            </a:avLst>
          </a:prstGeom>
          <a:solidFill>
            <a:srgbClr val="E6F4EC"/>
          </a:solidFill>
          <a:ln w="12700">
            <a:solidFill>
              <a:srgbClr val="1F7A4D"/>
            </a:solidFill>
          </a:ln>
          <a:effectLst/>
        </p:spPr>
        <p:style>
          <a:lnRef idx="1">
            <a:schemeClr val="accent1"/>
          </a:lnRef>
          <a:fillRef idx="3">
            <a:schemeClr val="accent1"/>
          </a:fillRef>
          <a:effectRef idx="0">
            <a:schemeClr val="accent1"/>
          </a:effectRef>
          <a:fontRef idx="minor">
            <a:schemeClr val="lt1"/>
          </a:fontRef>
        </p:style>
        <p:txBody>
          <a:bodyPr wrap="square" lIns="45720" tIns="18288" rIns="45720" bIns="18288" rtlCol="0" anchor="ctr">
            <a:noAutofit/>
          </a:bodyPr>
          <a:lstStyle/>
          <a:p>
            <a:pPr algn="ctr"/>
            <a:r>
              <a:rPr sz="1050" b="1" i="0">
                <a:solidFill>
                  <a:srgbClr val="0B2A4A"/>
                </a:solidFill>
                <a:latin typeface="Arial" panose="020B0604020202020204"/>
              </a:rPr>
              <a:t>evidence-backed administrative review</a:t>
            </a:r>
          </a:p>
        </p:txBody>
      </p:sp>
      <p:sp>
        <p:nvSpPr>
          <p:cNvPr id="17489" name="Rounded Rectangle 17488"/>
          <p:cNvSpPr/>
          <p:nvPr/>
        </p:nvSpPr>
        <p:spPr>
          <a:xfrm>
            <a:off x="10142220" y="5577840"/>
            <a:ext cx="1680971" cy="548640"/>
          </a:xfrm>
          <a:prstGeom prst="roundRect">
            <a:avLst>
              <a:gd name="adj" fmla="val 16666"/>
            </a:avLst>
          </a:prstGeom>
          <a:solidFill>
            <a:srgbClr val="E6F4EC"/>
          </a:solidFill>
          <a:ln w="12700">
            <a:solidFill>
              <a:srgbClr val="1F7A4D"/>
            </a:solidFill>
          </a:ln>
          <a:effectLst/>
        </p:spPr>
        <p:style>
          <a:lnRef idx="1">
            <a:schemeClr val="accent1"/>
          </a:lnRef>
          <a:fillRef idx="3">
            <a:schemeClr val="accent1"/>
          </a:fillRef>
          <a:effectRef idx="0">
            <a:schemeClr val="accent1"/>
          </a:effectRef>
          <a:fontRef idx="minor">
            <a:schemeClr val="lt1"/>
          </a:fontRef>
        </p:style>
        <p:txBody>
          <a:bodyPr wrap="square" lIns="45720" tIns="18288" rIns="45720" bIns="18288" rtlCol="0" anchor="ctr">
            <a:noAutofit/>
          </a:bodyPr>
          <a:lstStyle/>
          <a:p>
            <a:pPr algn="ctr"/>
            <a:r>
              <a:rPr sz="1050" b="1" i="0">
                <a:solidFill>
                  <a:srgbClr val="0B2A4A"/>
                </a:solidFill>
                <a:latin typeface="Arial" panose="020B0604020202020204"/>
              </a:rPr>
              <a:t>scalable district / state monitoring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0" y="6354762"/>
            <a:ext cx="12191999" cy="503238"/>
          </a:xfrm>
          <a:prstGeom prst="rect">
            <a:avLst/>
          </a:prstGeom>
          <a:solidFill>
            <a:srgbClr val="0070C0"/>
          </a:solidFill>
          <a:ln w="9525">
            <a:noFill/>
            <a:miter lim="800000"/>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C0504D">
                  <a:lumMod val="75000"/>
                </a:srgbClr>
              </a:solidFill>
              <a:effectLst/>
              <a:uLnTx/>
              <a:uFillTx/>
              <a:latin typeface="Calibri" panose="020F0502020204030204"/>
              <a:ea typeface="MS PGothic" panose="020B0600070205080204" pitchFamily="1" charset="-128"/>
              <a:cs typeface="+mn-cs"/>
            </a:endParaRPr>
          </a:p>
        </p:txBody>
      </p:sp>
      <p:sp>
        <p:nvSpPr>
          <p:cNvPr id="17409" name="Title 1"/>
          <p:cNvSpPr>
            <a:spLocks noGrp="1"/>
          </p:cNvSpPr>
          <p:nvPr>
            <p:ph type="title"/>
          </p:nvPr>
        </p:nvSpPr>
        <p:spPr>
          <a:xfrm>
            <a:off x="1627632" y="36576"/>
            <a:ext cx="8092440" cy="1042415"/>
          </a:xfrm>
        </p:spPr>
        <p:txBody>
          <a:bodyPr wrap="square"/>
          <a:lstStyle/>
          <a:p>
            <a:pPr algn="ctr"/>
            <a:r>
              <a:rPr sz="1200" b="1">
                <a:solidFill>
                  <a:srgbClr val="0070C0"/>
                </a:solidFill>
                <a:latin typeface="Arial" panose="020B0604020202020204"/>
              </a:rPr>
              <a:t>RESEARCH AND REFERENCES</a:t>
            </a:r>
          </a:p>
          <a:p>
            <a:pPr algn="ctr"/>
            <a:r>
              <a:rPr sz="2400" b="1">
                <a:solidFill>
                  <a:srgbClr val="0B2A4A"/>
                </a:solidFill>
                <a:latin typeface="Times New Roman" panose="02020603050405020304"/>
              </a:rPr>
              <a:t>WHERE LANDGUARD 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MS PGothic" panose="020B0600070205080204" pitchFamily="1" charset="-128"/>
                <a:cs typeface="+mn-cs"/>
              </a:rPr>
              <a:pPr marL="0" marR="0" lvl="0" indent="0" algn="r" defTabSz="457200" rtl="0" eaLnBrk="1" fontAlgn="base" latinLnBrk="0" hangingPunct="1">
                <a:lnSpc>
                  <a:spcPct val="100000"/>
                </a:lnSpc>
                <a:spcBef>
                  <a:spcPct val="0"/>
                </a:spcBef>
                <a:spcAft>
                  <a:spcPct val="0"/>
                </a:spcAft>
                <a:buClrTx/>
                <a:buSzTx/>
                <a:buFontTx/>
                <a:buNone/>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MS PGothic" panose="020B0600070205080204"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a:t>
            </a:r>
            <a:r>
              <a:rPr kumimoji="0" lang="en-US" sz="1200" b="0" i="0" u="none" strike="noStrike" kern="1200" cap="none" spc="0" normalizeH="0" baseline="0" noProof="0" dirty="0" smtClean="0">
                <a:ln>
                  <a:noFill/>
                </a:ln>
                <a:solidFill>
                  <a:prstClr val="white"/>
                </a:solidFill>
                <a:effectLst/>
                <a:uLnTx/>
                <a:uFillTx/>
                <a:latin typeface="TradeGothic"/>
                <a:ea typeface="+mn-ea"/>
                <a:cs typeface="+mn-cs"/>
              </a:rPr>
              <a:t>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wrap="square" lIns="18288" rIns="18288" rtlCol="0" anchor="ctr"/>
          <a:lstStyle/>
          <a:p>
            <a:pPr algn="ctr"/>
            <a:r>
              <a:rPr sz="1300" b="1">
                <a:solidFill>
                  <a:srgbClr val="0B2A4A"/>
                </a:solidFill>
                <a:latin typeface="Arial" panose="020B0604020202020204"/>
              </a:rPr>
              <a:t>Null Pointers</a:t>
            </a:r>
            <a:endParaRPr lang="en-IN" dirty="0"/>
          </a:p>
        </p:txBody>
      </p:sp>
      <p:pic>
        <p:nvPicPr>
          <p:cNvPr id="12" name="Picture 1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9780086" y="1500"/>
            <a:ext cx="2249850" cy="1062337"/>
          </a:xfrm>
          <a:prstGeom prst="rect">
            <a:avLst/>
          </a:prstGeom>
        </p:spPr>
      </p:pic>
      <p:graphicFrame>
        <p:nvGraphicFramePr>
          <p:cNvPr id="17410" name="Comparison matrix"/>
          <p:cNvGraphicFramePr>
            <a:graphicFrameLocks noGrp="1"/>
          </p:cNvGraphicFramePr>
          <p:nvPr/>
        </p:nvGraphicFramePr>
        <p:xfrm>
          <a:off x="365760" y="1188720"/>
          <a:ext cx="7772399" cy="3072384"/>
        </p:xfrm>
        <a:graphic>
          <a:graphicData uri="http://schemas.openxmlformats.org/drawingml/2006/table">
            <a:tbl>
              <a:tblPr firstRow="1" bandRow="1">
                <a:tableStyleId>{5C22544A-7EE6-4342-B048-85BDC9FD1C3A}</a:tableStyleId>
              </a:tblPr>
              <a:tblGrid>
                <a:gridCol w="1371600"/>
                <a:gridCol w="2651760"/>
                <a:gridCol w="3749039"/>
              </a:tblGrid>
              <a:tr h="329184">
                <a:tc>
                  <a:txBody>
                    <a:bodyPr/>
                    <a:lstStyle/>
                    <a:p>
                      <a:pPr algn="l"/>
                      <a:r>
                        <a:rPr sz="1100" b="1">
                          <a:solidFill>
                            <a:srgbClr val="FFFFFF"/>
                          </a:solidFill>
                          <a:latin typeface="Arial" panose="020B0604020202020204"/>
                        </a:rPr>
                        <a:t>SYSTEM</a:t>
                      </a:r>
                    </a:p>
                  </a:txBody>
                  <a:tcPr marT="27432" marB="27432" anchor="ctr">
                    <a:solidFill>
                      <a:srgbClr val="0B2A4A"/>
                    </a:solidFill>
                  </a:tcPr>
                </a:tc>
                <a:tc>
                  <a:txBody>
                    <a:bodyPr/>
                    <a:lstStyle/>
                    <a:p>
                      <a:pPr algn="l"/>
                      <a:r>
                        <a:rPr sz="1100" b="1">
                          <a:solidFill>
                            <a:srgbClr val="FFFFFF"/>
                          </a:solidFill>
                          <a:latin typeface="Arial" panose="020B0604020202020204"/>
                        </a:rPr>
                        <a:t>PRIMARY ROLE</a:t>
                      </a:r>
                    </a:p>
                  </a:txBody>
                  <a:tcPr marT="27432" marB="27432" anchor="ctr">
                    <a:solidFill>
                      <a:srgbClr val="0B2A4A"/>
                    </a:solidFill>
                  </a:tcPr>
                </a:tc>
                <a:tc>
                  <a:txBody>
                    <a:bodyPr/>
                    <a:lstStyle/>
                    <a:p>
                      <a:pPr algn="l"/>
                      <a:r>
                        <a:rPr sz="1100" b="1">
                          <a:solidFill>
                            <a:srgbClr val="FFFFFF"/>
                          </a:solidFill>
                          <a:latin typeface="Arial" panose="020B0604020202020204"/>
                        </a:rPr>
                        <a:t>LANDGUARD ADDS</a:t>
                      </a:r>
                    </a:p>
                  </a:txBody>
                  <a:tcPr marT="27432" marB="27432" anchor="ctr">
                    <a:solidFill>
                      <a:srgbClr val="0B2A4A"/>
                    </a:solidFill>
                  </a:tcPr>
                </a:tc>
              </a:tr>
              <a:tr h="548640">
                <a:tc>
                  <a:txBody>
                    <a:bodyPr/>
                    <a:lstStyle/>
                    <a:p>
                      <a:pPr algn="l"/>
                      <a:r>
                        <a:rPr sz="1200" b="1">
                          <a:solidFill>
                            <a:srgbClr val="0B2A4A"/>
                          </a:solidFill>
                          <a:latin typeface="Arial" panose="020B0604020202020204"/>
                        </a:rPr>
                        <a:t>LACRRIS</a:t>
                      </a:r>
                    </a:p>
                  </a:txBody>
                  <a:tcPr marT="27432" marB="27432" anchor="ctr">
                    <a:solidFill>
                      <a:srgbClr val="FFFFFF"/>
                    </a:solidFill>
                  </a:tcPr>
                </a:tc>
                <a:tc>
                  <a:txBody>
                    <a:bodyPr/>
                    <a:lstStyle/>
                    <a:p>
                      <a:pPr algn="l"/>
                      <a:r>
                        <a:rPr sz="1100" b="0">
                          <a:solidFill>
                            <a:srgbClr val="1E293B"/>
                          </a:solidFill>
                          <a:latin typeface="Arial" panose="020B0604020202020204"/>
                        </a:rPr>
                        <a:t>Land acquisition / compensation / R&amp;R MIS</a:t>
                      </a:r>
                    </a:p>
                  </a:txBody>
                  <a:tcPr marT="27432" marB="27432" anchor="ctr">
                    <a:solidFill>
                      <a:srgbClr val="FFFFFF"/>
                    </a:solidFill>
                  </a:tcPr>
                </a:tc>
                <a:tc>
                  <a:txBody>
                    <a:bodyPr/>
                    <a:lstStyle/>
                    <a:p>
                      <a:pPr algn="l"/>
                      <a:r>
                        <a:rPr sz="1100" b="0">
                          <a:solidFill>
                            <a:srgbClr val="1E293B"/>
                          </a:solidFill>
                          <a:latin typeface="Arial" panose="020B0604020202020204"/>
                        </a:rPr>
                        <a:t>Predictive triage + intervention prioritisation</a:t>
                      </a:r>
                    </a:p>
                  </a:txBody>
                  <a:tcPr marT="27432" marB="27432" anchor="ctr">
                    <a:solidFill>
                      <a:srgbClr val="E3F3F4"/>
                    </a:solidFill>
                  </a:tcPr>
                </a:tc>
              </a:tr>
              <a:tr h="548640">
                <a:tc>
                  <a:txBody>
                    <a:bodyPr/>
                    <a:lstStyle/>
                    <a:p>
                      <a:pPr algn="l"/>
                      <a:r>
                        <a:rPr sz="1200" b="1">
                          <a:solidFill>
                            <a:srgbClr val="0B2A4A"/>
                          </a:solidFill>
                          <a:latin typeface="Arial" panose="020B0604020202020204"/>
                        </a:rPr>
                        <a:t>Bhoomi Rashi</a:t>
                      </a:r>
                    </a:p>
                  </a:txBody>
                  <a:tcPr marT="27432" marB="27432" anchor="ctr">
                    <a:solidFill>
                      <a:srgbClr val="F6F8FB"/>
                    </a:solidFill>
                  </a:tcPr>
                </a:tc>
                <a:tc>
                  <a:txBody>
                    <a:bodyPr/>
                    <a:lstStyle/>
                    <a:p>
                      <a:pPr algn="l"/>
                      <a:r>
                        <a:rPr sz="1100" b="0">
                          <a:solidFill>
                            <a:srgbClr val="1E293B"/>
                          </a:solidFill>
                          <a:latin typeface="Arial" panose="020B0604020202020204"/>
                        </a:rPr>
                        <a:t>Highway land-acquisition workflow</a:t>
                      </a:r>
                    </a:p>
                  </a:txBody>
                  <a:tcPr marT="27432" marB="27432" anchor="ctr">
                    <a:solidFill>
                      <a:srgbClr val="F6F8FB"/>
                    </a:solidFill>
                  </a:tcPr>
                </a:tc>
                <a:tc>
                  <a:txBody>
                    <a:bodyPr/>
                    <a:lstStyle/>
                    <a:p>
                      <a:pPr algn="l"/>
                      <a:r>
                        <a:rPr sz="1100" b="0">
                          <a:solidFill>
                            <a:srgbClr val="1E293B"/>
                          </a:solidFill>
                          <a:latin typeface="Arial" panose="020B0604020202020204"/>
                        </a:rPr>
                        <a:t>Cross-project acquisition-risk decision support</a:t>
                      </a:r>
                    </a:p>
                  </a:txBody>
                  <a:tcPr marT="27432" marB="27432" anchor="ctr">
                    <a:solidFill>
                      <a:srgbClr val="E3F3F4"/>
                    </a:solidFill>
                  </a:tcPr>
                </a:tc>
              </a:tr>
              <a:tr h="548640">
                <a:tc>
                  <a:txBody>
                    <a:bodyPr/>
                    <a:lstStyle/>
                    <a:p>
                      <a:pPr algn="l"/>
                      <a:r>
                        <a:rPr sz="1200" b="1">
                          <a:solidFill>
                            <a:srgbClr val="0B2A4A"/>
                          </a:solidFill>
                          <a:latin typeface="Arial" panose="020B0604020202020204"/>
                        </a:rPr>
                        <a:t>PAIMANA</a:t>
                      </a:r>
                    </a:p>
                  </a:txBody>
                  <a:tcPr marT="27432" marB="27432" anchor="ctr">
                    <a:solidFill>
                      <a:srgbClr val="FFFFFF"/>
                    </a:solidFill>
                  </a:tcPr>
                </a:tc>
                <a:tc>
                  <a:txBody>
                    <a:bodyPr/>
                    <a:lstStyle/>
                    <a:p>
                      <a:pPr algn="l"/>
                      <a:r>
                        <a:rPr sz="1100" b="0">
                          <a:solidFill>
                            <a:srgbClr val="1E293B"/>
                          </a:solidFill>
                          <a:latin typeface="Arial" panose="020B0604020202020204"/>
                        </a:rPr>
                        <a:t>Infrastructure project monitoring</a:t>
                      </a:r>
                    </a:p>
                  </a:txBody>
                  <a:tcPr marT="27432" marB="27432" anchor="ctr">
                    <a:solidFill>
                      <a:srgbClr val="FFFFFF"/>
                    </a:solidFill>
                  </a:tcPr>
                </a:tc>
                <a:tc>
                  <a:txBody>
                    <a:bodyPr/>
                    <a:lstStyle/>
                    <a:p>
                      <a:pPr algn="l"/>
                      <a:r>
                        <a:rPr sz="1100" b="0">
                          <a:solidFill>
                            <a:srgbClr val="1E293B"/>
                          </a:solidFill>
                          <a:latin typeface="Arial" panose="020B0604020202020204"/>
                        </a:rPr>
                        <a:t>Longitudinal history used as supporting schedule ML evidence</a:t>
                      </a:r>
                    </a:p>
                  </a:txBody>
                  <a:tcPr marT="27432" marB="27432" anchor="ctr">
                    <a:solidFill>
                      <a:srgbClr val="E3F3F4"/>
                    </a:solidFill>
                  </a:tcPr>
                </a:tc>
              </a:tr>
              <a:tr h="548640">
                <a:tc>
                  <a:txBody>
                    <a:bodyPr/>
                    <a:lstStyle/>
                    <a:p>
                      <a:pPr algn="l"/>
                      <a:r>
                        <a:rPr sz="1200" b="1">
                          <a:solidFill>
                            <a:srgbClr val="0B2A4A"/>
                          </a:solidFill>
                          <a:latin typeface="Arial" panose="020B0604020202020204"/>
                        </a:rPr>
                        <a:t>PM GatiShakti</a:t>
                      </a:r>
                    </a:p>
                  </a:txBody>
                  <a:tcPr marT="27432" marB="27432" anchor="ctr">
                    <a:solidFill>
                      <a:srgbClr val="F6F8FB"/>
                    </a:solidFill>
                  </a:tcPr>
                </a:tc>
                <a:tc>
                  <a:txBody>
                    <a:bodyPr/>
                    <a:lstStyle/>
                    <a:p>
                      <a:pPr algn="l"/>
                      <a:r>
                        <a:rPr sz="1100" b="0">
                          <a:solidFill>
                            <a:srgbClr val="1E293B"/>
                          </a:solidFill>
                          <a:latin typeface="Arial" panose="020B0604020202020204"/>
                        </a:rPr>
                        <a:t>Geospatial infrastructure planning</a:t>
                      </a:r>
                    </a:p>
                  </a:txBody>
                  <a:tcPr marT="27432" marB="27432" anchor="ctr">
                    <a:solidFill>
                      <a:srgbClr val="F6F8FB"/>
                    </a:solidFill>
                  </a:tcPr>
                </a:tc>
                <a:tc>
                  <a:txBody>
                    <a:bodyPr/>
                    <a:lstStyle/>
                    <a:p>
                      <a:pPr algn="l"/>
                      <a:r>
                        <a:rPr sz="1100" b="0">
                          <a:solidFill>
                            <a:srgbClr val="1E293B"/>
                          </a:solidFill>
                          <a:latin typeface="Arial" panose="020B0604020202020204"/>
                        </a:rPr>
                        <a:t>Acquisition-delay intervention focus</a:t>
                      </a:r>
                    </a:p>
                  </a:txBody>
                  <a:tcPr marT="27432" marB="27432" anchor="ctr">
                    <a:solidFill>
                      <a:srgbClr val="E3F3F4"/>
                    </a:solidFill>
                  </a:tcPr>
                </a:tc>
              </a:tr>
              <a:tr h="548640">
                <a:tc>
                  <a:txBody>
                    <a:bodyPr/>
                    <a:lstStyle/>
                    <a:p>
                      <a:pPr algn="l"/>
                      <a:r>
                        <a:rPr sz="1200" b="1">
                          <a:solidFill>
                            <a:srgbClr val="0B2A4A"/>
                          </a:solidFill>
                          <a:latin typeface="Arial" panose="020B0604020202020204"/>
                        </a:rPr>
                        <a:t>PMG</a:t>
                      </a:r>
                    </a:p>
                  </a:txBody>
                  <a:tcPr marT="27432" marB="27432" anchor="ctr">
                    <a:solidFill>
                      <a:srgbClr val="FFFFFF"/>
                    </a:solidFill>
                  </a:tcPr>
                </a:tc>
                <a:tc>
                  <a:txBody>
                    <a:bodyPr/>
                    <a:lstStyle/>
                    <a:p>
                      <a:pPr algn="l"/>
                      <a:r>
                        <a:rPr sz="1100" b="0">
                          <a:solidFill>
                            <a:srgbClr val="1E293B"/>
                          </a:solidFill>
                          <a:latin typeface="Arial" panose="020B0604020202020204"/>
                        </a:rPr>
                        <a:t>Issue / project monitoring</a:t>
                      </a:r>
                    </a:p>
                  </a:txBody>
                  <a:tcPr marT="27432" marB="27432" anchor="ctr">
                    <a:solidFill>
                      <a:srgbClr val="FFFFFF"/>
                    </a:solidFill>
                  </a:tcPr>
                </a:tc>
                <a:tc>
                  <a:txBody>
                    <a:bodyPr/>
                    <a:lstStyle/>
                    <a:p>
                      <a:pPr algn="l"/>
                      <a:r>
                        <a:rPr sz="1100" b="0">
                          <a:solidFill>
                            <a:srgbClr val="1E293B"/>
                          </a:solidFill>
                          <a:latin typeface="Arial" panose="020B0604020202020204"/>
                        </a:rPr>
                        <a:t>Acquisition condition + independent ML evidence + tracked intervention</a:t>
                      </a:r>
                    </a:p>
                  </a:txBody>
                  <a:tcPr marT="27432" marB="27432" anchor="ctr">
                    <a:solidFill>
                      <a:srgbClr val="E3F3F4"/>
                    </a:solidFill>
                  </a:tcPr>
                </a:tc>
              </a:tr>
            </a:tbl>
          </a:graphicData>
        </a:graphic>
      </p:graphicFrame>
      <p:sp>
        <p:nvSpPr>
          <p:cNvPr id="17411" name="Rectangle 17410"/>
          <p:cNvSpPr/>
          <p:nvPr/>
        </p:nvSpPr>
        <p:spPr>
          <a:xfrm>
            <a:off x="8366760" y="1188720"/>
            <a:ext cx="3456432" cy="3072384"/>
          </a:xfrm>
          <a:prstGeom prst="rect">
            <a:avLst/>
          </a:prstGeom>
          <a:solidFill>
            <a:srgbClr val="EEF3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7412" name="Rectangle 17411"/>
          <p:cNvSpPr/>
          <p:nvPr/>
        </p:nvSpPr>
        <p:spPr>
          <a:xfrm>
            <a:off x="8366760" y="1188720"/>
            <a:ext cx="3456432" cy="347472"/>
          </a:xfrm>
          <a:prstGeom prst="rect">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wrap="square" lIns="45720" tIns="27432" rIns="45720" bIns="27432" rtlCol="0" anchor="ctr">
            <a:noAutofit/>
          </a:bodyPr>
          <a:lstStyle/>
          <a:p>
            <a:pPr algn="ctr"/>
            <a:r>
              <a:rPr sz="1200" b="1" i="0">
                <a:solidFill>
                  <a:srgbClr val="FFFFFF"/>
                </a:solidFill>
                <a:latin typeface="Arial" panose="020B0604020202020204"/>
              </a:rPr>
              <a:t>FUTURE SCOPE</a:t>
            </a:r>
          </a:p>
        </p:txBody>
      </p:sp>
      <p:sp>
        <p:nvSpPr>
          <p:cNvPr id="17413" name="Oval 17412"/>
          <p:cNvSpPr/>
          <p:nvPr/>
        </p:nvSpPr>
        <p:spPr>
          <a:xfrm>
            <a:off x="8531352" y="1728216"/>
            <a:ext cx="402336" cy="402336"/>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14" name="Picture 17413" descr="plug_w.png"/>
          <p:cNvPicPr>
            <a:picLocks noChangeAspect="1"/>
          </p:cNvPicPr>
          <p:nvPr/>
        </p:nvPicPr>
        <p:blipFill>
          <a:blip r:embed="rId4"/>
          <a:stretch>
            <a:fillRect/>
          </a:stretch>
        </p:blipFill>
        <p:spPr>
          <a:xfrm>
            <a:off x="8627912" y="1824776"/>
            <a:ext cx="209214" cy="209214"/>
          </a:xfrm>
          <a:prstGeom prst="rect">
            <a:avLst/>
          </a:prstGeom>
        </p:spPr>
      </p:pic>
      <p:sp>
        <p:nvSpPr>
          <p:cNvPr id="17415" name="TextBox 17414"/>
          <p:cNvSpPr txBox="1"/>
          <p:nvPr/>
        </p:nvSpPr>
        <p:spPr>
          <a:xfrm>
            <a:off x="9052560" y="1664208"/>
            <a:ext cx="2679191" cy="530352"/>
          </a:xfrm>
          <a:prstGeom prst="rect">
            <a:avLst/>
          </a:prstGeom>
          <a:noFill/>
        </p:spPr>
        <p:txBody>
          <a:bodyPr wrap="square" lIns="18288" tIns="18288" rIns="18288" bIns="18288" anchor="ctr">
            <a:noAutofit/>
          </a:bodyPr>
          <a:lstStyle/>
          <a:p>
            <a:pPr algn="l"/>
            <a:r>
              <a:rPr sz="1150" b="1" i="0">
                <a:solidFill>
                  <a:srgbClr val="0B2A4A"/>
                </a:solidFill>
                <a:latin typeface="Arial" panose="020B0604020202020204"/>
              </a:rPr>
              <a:t>LACRRIS / Bhoomi Rashi connectors</a:t>
            </a:r>
          </a:p>
        </p:txBody>
      </p:sp>
      <p:sp>
        <p:nvSpPr>
          <p:cNvPr id="17416" name="Oval 17415"/>
          <p:cNvSpPr/>
          <p:nvPr/>
        </p:nvSpPr>
        <p:spPr>
          <a:xfrm>
            <a:off x="8531352" y="2368296"/>
            <a:ext cx="402336" cy="402336"/>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17" name="Picture 17416" descr="history_w.png"/>
          <p:cNvPicPr>
            <a:picLocks noChangeAspect="1"/>
          </p:cNvPicPr>
          <p:nvPr/>
        </p:nvPicPr>
        <p:blipFill>
          <a:blip r:embed="rId5"/>
          <a:stretch>
            <a:fillRect/>
          </a:stretch>
        </p:blipFill>
        <p:spPr>
          <a:xfrm>
            <a:off x="8627912" y="2464856"/>
            <a:ext cx="209214" cy="209214"/>
          </a:xfrm>
          <a:prstGeom prst="rect">
            <a:avLst/>
          </a:prstGeom>
        </p:spPr>
      </p:pic>
      <p:sp>
        <p:nvSpPr>
          <p:cNvPr id="17418" name="TextBox 17417"/>
          <p:cNvSpPr txBox="1"/>
          <p:nvPr/>
        </p:nvSpPr>
        <p:spPr>
          <a:xfrm>
            <a:off x="9052560" y="2304288"/>
            <a:ext cx="2679191" cy="530352"/>
          </a:xfrm>
          <a:prstGeom prst="rect">
            <a:avLst/>
          </a:prstGeom>
          <a:noFill/>
        </p:spPr>
        <p:txBody>
          <a:bodyPr wrap="square" lIns="18288" tIns="18288" rIns="18288" bIns="18288" anchor="ctr">
            <a:noAutofit/>
          </a:bodyPr>
          <a:lstStyle/>
          <a:p>
            <a:pPr algn="l"/>
            <a:r>
              <a:rPr sz="1150" b="1" i="0">
                <a:solidFill>
                  <a:srgbClr val="0B2A4A"/>
                </a:solidFill>
                <a:latin typeface="Arial" panose="020B0604020202020204"/>
              </a:rPr>
              <a:t>Acquisition-stage event history</a:t>
            </a:r>
          </a:p>
        </p:txBody>
      </p:sp>
      <p:sp>
        <p:nvSpPr>
          <p:cNvPr id="17419" name="Oval 17418"/>
          <p:cNvSpPr/>
          <p:nvPr/>
        </p:nvSpPr>
        <p:spPr>
          <a:xfrm>
            <a:off x="8531352" y="3008375"/>
            <a:ext cx="402336" cy="402336"/>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20" name="Picture 17419" descr="clock_w.png"/>
          <p:cNvPicPr>
            <a:picLocks noChangeAspect="1"/>
          </p:cNvPicPr>
          <p:nvPr/>
        </p:nvPicPr>
        <p:blipFill>
          <a:blip r:embed="rId6"/>
          <a:stretch>
            <a:fillRect/>
          </a:stretch>
        </p:blipFill>
        <p:spPr>
          <a:xfrm>
            <a:off x="8627912" y="3104936"/>
            <a:ext cx="209214" cy="209214"/>
          </a:xfrm>
          <a:prstGeom prst="rect">
            <a:avLst/>
          </a:prstGeom>
        </p:spPr>
      </p:pic>
      <p:sp>
        <p:nvSpPr>
          <p:cNvPr id="17421" name="TextBox 17420"/>
          <p:cNvSpPr txBox="1"/>
          <p:nvPr/>
        </p:nvSpPr>
        <p:spPr>
          <a:xfrm>
            <a:off x="9052560" y="2944368"/>
            <a:ext cx="2679191" cy="530352"/>
          </a:xfrm>
          <a:prstGeom prst="rect">
            <a:avLst/>
          </a:prstGeom>
          <a:noFill/>
        </p:spPr>
        <p:txBody>
          <a:bodyPr wrap="square" lIns="18288" tIns="18288" rIns="18288" bIns="18288" anchor="ctr">
            <a:noAutofit/>
          </a:bodyPr>
          <a:lstStyle/>
          <a:p>
            <a:pPr algn="l"/>
            <a:r>
              <a:rPr sz="1150" b="1" i="0">
                <a:solidFill>
                  <a:srgbClr val="0B2A4A"/>
                </a:solidFill>
                <a:latin typeface="Arial" panose="020B0604020202020204"/>
              </a:rPr>
              <a:t>Statutory deadline clocks</a:t>
            </a:r>
          </a:p>
        </p:txBody>
      </p:sp>
      <p:sp>
        <p:nvSpPr>
          <p:cNvPr id="17422" name="Oval 17421"/>
          <p:cNvSpPr/>
          <p:nvPr/>
        </p:nvSpPr>
        <p:spPr>
          <a:xfrm>
            <a:off x="8531352" y="3648456"/>
            <a:ext cx="402336" cy="402336"/>
          </a:xfrm>
          <a:prstGeom prst="ellipse">
            <a:avLst/>
          </a:prstGeom>
          <a:solidFill>
            <a:srgbClr val="0E7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endParaRPr/>
          </a:p>
        </p:txBody>
      </p:sp>
      <p:pic>
        <p:nvPicPr>
          <p:cNvPr id="17423" name="Picture 17422" descr="chart_w.png"/>
          <p:cNvPicPr>
            <a:picLocks noChangeAspect="1"/>
          </p:cNvPicPr>
          <p:nvPr/>
        </p:nvPicPr>
        <p:blipFill>
          <a:blip r:embed="rId7"/>
          <a:stretch>
            <a:fillRect/>
          </a:stretch>
        </p:blipFill>
        <p:spPr>
          <a:xfrm>
            <a:off x="8627912" y="3745016"/>
            <a:ext cx="209214" cy="209214"/>
          </a:xfrm>
          <a:prstGeom prst="rect">
            <a:avLst/>
          </a:prstGeom>
        </p:spPr>
      </p:pic>
      <p:sp>
        <p:nvSpPr>
          <p:cNvPr id="17424" name="TextBox 17423"/>
          <p:cNvSpPr txBox="1"/>
          <p:nvPr/>
        </p:nvSpPr>
        <p:spPr>
          <a:xfrm>
            <a:off x="9052560" y="3584448"/>
            <a:ext cx="2679191" cy="530352"/>
          </a:xfrm>
          <a:prstGeom prst="rect">
            <a:avLst/>
          </a:prstGeom>
          <a:noFill/>
        </p:spPr>
        <p:txBody>
          <a:bodyPr wrap="square" lIns="18288" tIns="18288" rIns="18288" bIns="18288" anchor="ctr">
            <a:noAutofit/>
          </a:bodyPr>
          <a:lstStyle/>
          <a:p>
            <a:pPr algn="l"/>
            <a:r>
              <a:rPr sz="1150" b="1" i="0">
                <a:solidFill>
                  <a:srgbClr val="0B2A4A"/>
                </a:solidFill>
                <a:latin typeface="Arial" panose="020B0604020202020204"/>
              </a:rPr>
              <a:t>Validated longitudinal land-acquisition ML</a:t>
            </a:r>
          </a:p>
        </p:txBody>
      </p:sp>
      <p:sp>
        <p:nvSpPr>
          <p:cNvPr id="17425" name="Rounded Rectangle 17424"/>
          <p:cNvSpPr/>
          <p:nvPr/>
        </p:nvSpPr>
        <p:spPr>
          <a:xfrm>
            <a:off x="365760" y="4370832"/>
            <a:ext cx="11457432" cy="475488"/>
          </a:xfrm>
          <a:prstGeom prst="roundRect">
            <a:avLst>
              <a:gd name="adj" fmla="val 15384"/>
            </a:avLst>
          </a:prstGeom>
          <a:solidFill>
            <a:srgbClr val="E3F3F4"/>
          </a:solidFill>
          <a:ln w="12700">
            <a:solidFill>
              <a:srgbClr val="0E7C86"/>
            </a:solidFill>
          </a:ln>
          <a:effectLst/>
        </p:spPr>
        <p:style>
          <a:lnRef idx="1">
            <a:schemeClr val="accent1"/>
          </a:lnRef>
          <a:fillRef idx="3">
            <a:schemeClr val="accent1"/>
          </a:fillRef>
          <a:effectRef idx="0">
            <a:schemeClr val="accent1"/>
          </a:effectRef>
          <a:fontRef idx="minor">
            <a:schemeClr val="lt1"/>
          </a:fontRef>
        </p:style>
        <p:txBody>
          <a:bodyPr wrap="square" lIns="137160" tIns="18288" rIns="137160" bIns="18288" rtlCol="0" anchor="ctr">
            <a:noAutofit/>
          </a:bodyPr>
          <a:lstStyle/>
          <a:p>
            <a:pPr algn="ctr"/>
            <a:r>
              <a:rPr sz="1150" b="1" i="0">
                <a:solidFill>
                  <a:srgbClr val="0B2A4A"/>
                </a:solidFill>
                <a:latin typeface="Arial" panose="020B0604020202020204"/>
              </a:rPr>
              <a:t>LandGuard’s distinctive prototype combination is acquisition-aware prioritisation + independent real-data schedule intelligence + explainability + accountable intervention tracking.</a:t>
            </a:r>
          </a:p>
        </p:txBody>
      </p:sp>
      <p:sp>
        <p:nvSpPr>
          <p:cNvPr id="17426" name="Rounded Rectangle 17425"/>
          <p:cNvSpPr/>
          <p:nvPr/>
        </p:nvSpPr>
        <p:spPr>
          <a:xfrm>
            <a:off x="365760" y="4937760"/>
            <a:ext cx="11457432" cy="713232"/>
          </a:xfrm>
          <a:prstGeom prst="roundRect">
            <a:avLst>
              <a:gd name="adj" fmla="val 12820"/>
            </a:avLst>
          </a:prstGeom>
          <a:solidFill>
            <a:srgbClr val="0B2A4A"/>
          </a:solidFill>
          <a:ln>
            <a:noFill/>
          </a:ln>
          <a:effectLst/>
        </p:spPr>
        <p:style>
          <a:lnRef idx="1">
            <a:schemeClr val="accent1"/>
          </a:lnRef>
          <a:fillRef idx="3">
            <a:schemeClr val="accent1"/>
          </a:fillRef>
          <a:effectRef idx="0">
            <a:schemeClr val="accent1"/>
          </a:effectRef>
          <a:fontRef idx="minor">
            <a:schemeClr val="lt1"/>
          </a:fontRef>
        </p:style>
        <p:txBody>
          <a:bodyPr wrap="square" lIns="182880" tIns="27432" rIns="182880" bIns="27432" rtlCol="0" anchor="ctr">
            <a:noAutofit/>
          </a:bodyPr>
          <a:lstStyle/>
          <a:p>
            <a:pPr algn="ctr"/>
            <a:r>
              <a:rPr sz="1800" b="1" i="0">
                <a:solidFill>
                  <a:srgbClr val="FFFFFF"/>
                </a:solidFill>
                <a:latin typeface="Arial" panose="020B0604020202020204"/>
              </a:rPr>
              <a:t>LandGuard transforms land-acquisition monitoring from reactive reporting into explainable, acquisition-aware intervention prioritisation.</a:t>
            </a:r>
          </a:p>
        </p:txBody>
      </p:sp>
      <p:sp>
        <p:nvSpPr>
          <p:cNvPr id="17427" name="TextBox 17426"/>
          <p:cNvSpPr txBox="1"/>
          <p:nvPr/>
        </p:nvSpPr>
        <p:spPr>
          <a:xfrm>
            <a:off x="365760" y="5733288"/>
            <a:ext cx="11457432" cy="566928"/>
          </a:xfrm>
          <a:prstGeom prst="rect">
            <a:avLst/>
          </a:prstGeom>
          <a:noFill/>
        </p:spPr>
        <p:txBody>
          <a:bodyPr wrap="square" lIns="18288" tIns="18288" rIns="18288" bIns="18288" anchor="t">
            <a:noAutofit/>
          </a:bodyPr>
          <a:lstStyle/>
          <a:p>
            <a:pPr algn="l">
              <a:spcAft>
                <a:spcPts val="100"/>
              </a:spcAft>
            </a:pPr>
            <a:r>
              <a:rPr sz="950" b="1" i="0">
                <a:solidFill>
                  <a:srgbClr val="0B2A4A"/>
                </a:solidFill>
                <a:latin typeface="Arial" panose="020B0604020202020204"/>
              </a:rPr>
              <a:t>Systems: </a:t>
            </a:r>
            <a:r>
              <a:rPr sz="950" b="0" i="0">
                <a:solidFill>
                  <a:srgbClr val="475569"/>
                </a:solidFill>
                <a:latin typeface="Arial" panose="020B0604020202020204"/>
              </a:rPr>
              <a:t>LACRRIS (Dept. of Land Resources, MoRD; larr.dolr.gov.in) · Bhoomi Rashi (MoRTH) · PAIMANA (MoSPI; ipm.mospi.gov.in) · PM GatiShakti (DPIIT) · PMG (DPIIT)</a:t>
            </a:r>
          </a:p>
          <a:p>
            <a:pPr algn="l">
              <a:spcAft>
                <a:spcPts val="100"/>
              </a:spcAft>
            </a:pPr>
            <a:r>
              <a:rPr sz="950" b="1" i="0">
                <a:solidFill>
                  <a:srgbClr val="0B2A4A"/>
                </a:solidFill>
                <a:latin typeface="Arial" panose="020B0604020202020204"/>
              </a:rPr>
              <a:t>Data: </a:t>
            </a:r>
            <a:r>
              <a:rPr sz="950" b="0" i="0">
                <a:solidFill>
                  <a:srgbClr val="475569"/>
                </a:solidFill>
                <a:latin typeface="Arial" panose="020B0604020202020204"/>
              </a:rPr>
              <a:t>MoSPI PAIMANA historical monthly project data (ML schedule baseline). Rayagada demonstration projects are illustrative, not verified real projects.</a:t>
            </a:r>
          </a:p>
          <a:p>
            <a:pPr algn="l"/>
            <a:r>
              <a:rPr sz="950" b="1" i="0">
                <a:solidFill>
                  <a:srgbClr val="0B2A4A"/>
                </a:solidFill>
                <a:latin typeface="Arial" panose="020B0604020202020204"/>
              </a:rPr>
              <a:t>Methods &amp; law: </a:t>
            </a:r>
            <a:r>
              <a:rPr sz="950" b="0" i="0">
                <a:solidFill>
                  <a:srgbClr val="475569"/>
                </a:solidFill>
                <a:latin typeface="Arial" panose="020B0604020202020204"/>
              </a:rPr>
              <a:t>Breiman (2001) Random Forests, Machine Learning 45 · Lundberg &amp; Lee (2017) SHAP, NeurIPS · Pedregosa et al. (2011) scikit-learn, JMLR 12 · RFCTLARR Act, 2013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TotalTime>
  <Words>1571</Words>
  <Application>WPS Presentation</Application>
  <PresentationFormat>Custom</PresentationFormat>
  <Paragraphs>240</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SMART INDIA HACKATHON 2026</vt:lpstr>
      <vt:lpstr>IDEA TITLE  ·  PROPOSED SOLUTION FROM REACTIVE MONITORING TO EARLY INTERVENTION</vt:lpstr>
      <vt:lpstr>TECHNICAL APPROACH HOW LANDGUARD WORKS</vt:lpstr>
      <vt:lpstr>TECHNICAL APPROACH  ·  FEASIBILITY AND VIABILITY EXPLAINABLE INTELLIGENCE, NOT A BLACK BOX</vt:lpstr>
      <vt:lpstr>IMPACT AND BENEFITS FROM RISK TO ACCOUNTABLE ACTION</vt:lpstr>
      <vt:lpstr>RESEARCH AND REFERENCES WHERE LANDGUARD FITS</vt:lpstr>
    </vt:vector>
  </TitlesOfParts>
  <Company>Crowdfunder,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Ansuman Patra</cp:lastModifiedBy>
  <cp:revision>152</cp:revision>
  <dcterms:created xsi:type="dcterms:W3CDTF">2013-12-12T18:46:00Z</dcterms:created>
  <dcterms:modified xsi:type="dcterms:W3CDTF">2026-09-21T05:48:36Z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4C4A1A17B5E848C18B5C39F9A5EBF481_12</vt:lpwstr>
  </property>
</Properties>
</file>